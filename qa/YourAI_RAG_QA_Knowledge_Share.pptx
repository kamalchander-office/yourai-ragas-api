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sp>
        <p:nvSpPr>
          <p:cNvPr id="84" name="Google Shape;84;p13"/>
          <p:cNvSpPr/>
          <p:nvPr/>
        </p:nvSpPr>
        <p:spPr>
          <a:xfrm>
            <a:off x="0" y="0"/>
            <a:ext cx="4114800" cy="6858000"/>
          </a:xfrm>
          <a:prstGeom prst="rect">
            <a:avLst/>
          </a:prstGeom>
          <a:solidFill>
            <a:srgbClr val="121F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p:nvPr/>
        </p:nvSpPr>
        <p:spPr>
          <a:xfrm>
            <a:off x="8412480" y="0"/>
            <a:ext cx="3749039" cy="6858000"/>
          </a:xfrm>
          <a:prstGeom prst="rect">
            <a:avLst/>
          </a:prstGeom>
          <a:solidFill>
            <a:srgbClr val="121F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p:nvPr/>
        </p:nvSpPr>
        <p:spPr>
          <a:xfrm>
            <a:off x="868680" y="2788920"/>
            <a:ext cx="2011680" cy="64008"/>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868680" y="1234440"/>
            <a:ext cx="10241280" cy="137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600" u="none" cap="none" strike="noStrike">
                <a:solidFill>
                  <a:srgbClr val="FFFFFF"/>
                </a:solidFill>
                <a:latin typeface="Calibri"/>
                <a:ea typeface="Calibri"/>
                <a:cs typeface="Calibri"/>
                <a:sym typeface="Calibri"/>
              </a:rPr>
              <a:t>Testing RAG Chatbots</a:t>
            </a:r>
            <a:br>
              <a:rPr b="1" i="0" lang="en-US" sz="4600" u="none" cap="none" strike="noStrike">
                <a:solidFill>
                  <a:srgbClr val="FFFFFF"/>
                </a:solidFill>
                <a:latin typeface="Calibri"/>
                <a:ea typeface="Calibri"/>
                <a:cs typeface="Calibri"/>
                <a:sym typeface="Calibri"/>
              </a:rPr>
            </a:br>
            <a:r>
              <a:rPr b="1" i="0" lang="en-US" sz="4600" u="none" cap="none" strike="noStrike">
                <a:solidFill>
                  <a:srgbClr val="FFFFFF"/>
                </a:solidFill>
                <a:latin typeface="Calibri"/>
                <a:ea typeface="Calibri"/>
                <a:cs typeface="Calibri"/>
                <a:sym typeface="Calibri"/>
              </a:rPr>
              <a:t>with AI-Powered QA</a:t>
            </a:r>
            <a:endParaRPr/>
          </a:p>
        </p:txBody>
      </p:sp>
      <p:sp>
        <p:nvSpPr>
          <p:cNvPr id="88" name="Google Shape;88;p13"/>
          <p:cNvSpPr txBox="1"/>
          <p:nvPr/>
        </p:nvSpPr>
        <p:spPr>
          <a:xfrm>
            <a:off x="868680" y="2971800"/>
            <a:ext cx="10058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CBD5E1"/>
                </a:solidFill>
                <a:latin typeface="Calibri"/>
                <a:ea typeface="Calibri"/>
                <a:cs typeface="Calibri"/>
                <a:sym typeface="Calibri"/>
              </a:rPr>
              <a:t>YourAI Case Study  ·  Enterprise QA Knowledge Share</a:t>
            </a:r>
            <a:endParaRPr/>
          </a:p>
        </p:txBody>
      </p:sp>
      <p:sp>
        <p:nvSpPr>
          <p:cNvPr id="89" name="Google Shape;89;p13"/>
          <p:cNvSpPr/>
          <p:nvPr/>
        </p:nvSpPr>
        <p:spPr>
          <a:xfrm>
            <a:off x="868680" y="3794760"/>
            <a:ext cx="1828800" cy="438912"/>
          </a:xfrm>
          <a:prstGeom prst="roundRect">
            <a:avLst>
              <a:gd fmla="val 16667" name="adj"/>
            </a:avLst>
          </a:prstGeom>
          <a:solidFill>
            <a:srgbClr val="1E3A8A"/>
          </a:solidFill>
          <a:ln cap="flat" cmpd="sng" w="9525">
            <a:solidFill>
              <a:srgbClr val="2563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DBEAFE"/>
                </a:solidFill>
                <a:latin typeface="Calibri"/>
                <a:ea typeface="Calibri"/>
                <a:cs typeface="Calibri"/>
                <a:sym typeface="Calibri"/>
              </a:rPr>
              <a:t>RAGAs</a:t>
            </a:r>
            <a:endParaRPr/>
          </a:p>
        </p:txBody>
      </p:sp>
      <p:sp>
        <p:nvSpPr>
          <p:cNvPr id="90" name="Google Shape;90;p13"/>
          <p:cNvSpPr/>
          <p:nvPr/>
        </p:nvSpPr>
        <p:spPr>
          <a:xfrm>
            <a:off x="2834639" y="3794760"/>
            <a:ext cx="1828800" cy="438912"/>
          </a:xfrm>
          <a:prstGeom prst="roundRect">
            <a:avLst>
              <a:gd fmla="val 16667" name="adj"/>
            </a:avLst>
          </a:prstGeom>
          <a:solidFill>
            <a:srgbClr val="1E3A8A"/>
          </a:solidFill>
          <a:ln cap="flat" cmpd="sng" w="9525">
            <a:solidFill>
              <a:srgbClr val="2563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DBEAFE"/>
                </a:solidFill>
                <a:latin typeface="Calibri"/>
                <a:ea typeface="Calibri"/>
                <a:cs typeface="Calibri"/>
                <a:sym typeface="Calibri"/>
              </a:rPr>
              <a:t>DeepEval</a:t>
            </a:r>
            <a:endParaRPr/>
          </a:p>
        </p:txBody>
      </p:sp>
      <p:sp>
        <p:nvSpPr>
          <p:cNvPr id="91" name="Google Shape;91;p13"/>
          <p:cNvSpPr/>
          <p:nvPr/>
        </p:nvSpPr>
        <p:spPr>
          <a:xfrm>
            <a:off x="4800600" y="3794760"/>
            <a:ext cx="1828800" cy="438912"/>
          </a:xfrm>
          <a:prstGeom prst="roundRect">
            <a:avLst>
              <a:gd fmla="val 16667" name="adj"/>
            </a:avLst>
          </a:prstGeom>
          <a:solidFill>
            <a:srgbClr val="1E3A8A"/>
          </a:solidFill>
          <a:ln cap="flat" cmpd="sng" w="9525">
            <a:solidFill>
              <a:srgbClr val="2563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DBEAFE"/>
                </a:solidFill>
                <a:latin typeface="Calibri"/>
                <a:ea typeface="Calibri"/>
                <a:cs typeface="Calibri"/>
                <a:sym typeface="Calibri"/>
              </a:rPr>
              <a:t>LLM-as-Judge</a:t>
            </a:r>
            <a:endParaRPr/>
          </a:p>
        </p:txBody>
      </p:sp>
      <p:sp>
        <p:nvSpPr>
          <p:cNvPr id="92" name="Google Shape;92;p13"/>
          <p:cNvSpPr txBox="1"/>
          <p:nvPr/>
        </p:nvSpPr>
        <p:spPr>
          <a:xfrm>
            <a:off x="868680" y="5806440"/>
            <a:ext cx="10058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94A3B8"/>
                </a:solidFill>
                <a:latin typeface="Calibri"/>
                <a:ea typeface="Calibri"/>
                <a:cs typeface="Calibri"/>
                <a:sym typeface="Calibri"/>
              </a:rPr>
              <a:t>QA Team Knowledge Session  ·  July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6" name="Shape 96"/>
        <p:cNvGrpSpPr/>
        <p:nvPr/>
      </p:nvGrpSpPr>
      <p:grpSpPr>
        <a:xfrm>
          <a:off x="0" y="0"/>
          <a:ext cx="0" cy="0"/>
          <a:chOff x="0" y="0"/>
          <a:chExt cx="0" cy="0"/>
        </a:xfrm>
      </p:grpSpPr>
      <p:sp>
        <p:nvSpPr>
          <p:cNvPr id="97" name="Google Shape;97;p14"/>
          <p:cNvSpPr/>
          <p:nvPr/>
        </p:nvSpPr>
        <p:spPr>
          <a:xfrm>
            <a:off x="868680" y="2331720"/>
            <a:ext cx="1463040" cy="54864"/>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4"/>
          <p:cNvSpPr txBox="1"/>
          <p:nvPr/>
        </p:nvSpPr>
        <p:spPr>
          <a:xfrm>
            <a:off x="868680" y="1417320"/>
            <a:ext cx="10058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DBEAFE"/>
                </a:solidFill>
                <a:latin typeface="Calibri"/>
                <a:ea typeface="Calibri"/>
                <a:cs typeface="Calibri"/>
                <a:sym typeface="Calibri"/>
              </a:rPr>
              <a:t>PART 01</a:t>
            </a:r>
            <a:endParaRPr/>
          </a:p>
        </p:txBody>
      </p:sp>
      <p:sp>
        <p:nvSpPr>
          <p:cNvPr id="99" name="Google Shape;99;p14"/>
          <p:cNvSpPr txBox="1"/>
          <p:nvPr/>
        </p:nvSpPr>
        <p:spPr>
          <a:xfrm>
            <a:off x="868680" y="2514600"/>
            <a:ext cx="10515600" cy="1280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FFFFFF"/>
                </a:solidFill>
                <a:latin typeface="Calibri"/>
                <a:ea typeface="Calibri"/>
                <a:cs typeface="Calibri"/>
                <a:sym typeface="Calibri"/>
              </a:rPr>
              <a:t>The Challenge</a:t>
            </a:r>
            <a:endParaRPr/>
          </a:p>
        </p:txBody>
      </p:sp>
      <p:sp>
        <p:nvSpPr>
          <p:cNvPr id="100" name="Google Shape;100;p14"/>
          <p:cNvSpPr txBox="1"/>
          <p:nvPr/>
        </p:nvSpPr>
        <p:spPr>
          <a:xfrm>
            <a:off x="868680" y="3977639"/>
            <a:ext cx="96012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CBD5E1"/>
                </a:solidFill>
                <a:latin typeface="Calibri"/>
                <a:ea typeface="Calibri"/>
                <a:cs typeface="Calibri"/>
                <a:sym typeface="Calibri"/>
              </a:rPr>
              <a:t>Why testing a legal RAG chatbot is fundamentally different from traditional QA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4" name="Shape 104"/>
        <p:cNvGrpSpPr/>
        <p:nvPr/>
      </p:nvGrpSpPr>
      <p:grpSpPr>
        <a:xfrm>
          <a:off x="0" y="0"/>
          <a:ext cx="0" cy="0"/>
          <a:chOff x="0" y="0"/>
          <a:chExt cx="0" cy="0"/>
        </a:xfrm>
      </p:grpSpPr>
      <p:sp>
        <p:nvSpPr>
          <p:cNvPr id="105" name="Google Shape;105;p15"/>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 name="Google Shape;106;p15"/>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15"/>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RAG Changes the QA Equation</a:t>
            </a:r>
            <a:endParaRPr/>
          </a:p>
        </p:txBody>
      </p:sp>
      <p:sp>
        <p:nvSpPr>
          <p:cNvPr id="108" name="Google Shape;108;p15"/>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Why standard chatbot QA approaches fall short for retrieval-augmented systems</a:t>
            </a:r>
            <a:endParaRPr/>
          </a:p>
        </p:txBody>
      </p:sp>
      <p:sp>
        <p:nvSpPr>
          <p:cNvPr id="109" name="Google Shape;109;p15"/>
          <p:cNvSpPr/>
          <p:nvPr/>
        </p:nvSpPr>
        <p:spPr>
          <a:xfrm>
            <a:off x="502920" y="1682780"/>
            <a:ext cx="5486400" cy="50748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5"/>
          <p:cNvSpPr/>
          <p:nvPr/>
        </p:nvSpPr>
        <p:spPr>
          <a:xfrm>
            <a:off x="502920" y="1586018"/>
            <a:ext cx="5486400" cy="109800"/>
          </a:xfrm>
          <a:prstGeom prst="rect">
            <a:avLst/>
          </a:prstGeom>
          <a:solidFill>
            <a:srgbClr val="4755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5"/>
          <p:cNvSpPr txBox="1"/>
          <p:nvPr/>
        </p:nvSpPr>
        <p:spPr>
          <a:xfrm>
            <a:off x="731525" y="2057400"/>
            <a:ext cx="5029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E293B"/>
                </a:solidFill>
                <a:latin typeface="Calibri"/>
                <a:ea typeface="Calibri"/>
                <a:cs typeface="Calibri"/>
                <a:sym typeface="Calibri"/>
              </a:rPr>
              <a:t>Traditional Chatbot QA</a:t>
            </a:r>
            <a:endParaRPr/>
          </a:p>
        </p:txBody>
      </p:sp>
      <p:sp>
        <p:nvSpPr>
          <p:cNvPr id="112" name="Google Shape;112;p15"/>
          <p:cNvSpPr txBox="1"/>
          <p:nvPr/>
        </p:nvSpPr>
        <p:spPr>
          <a:xfrm>
            <a:off x="731525" y="2577750"/>
            <a:ext cx="50292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475569"/>
                </a:solidFill>
                <a:latin typeface="Calibri"/>
                <a:ea typeface="Calibri"/>
                <a:cs typeface="Calibri"/>
                <a:sym typeface="Calibri"/>
              </a:rPr>
              <a:t>•  Verify the bot responds</a:t>
            </a:r>
            <a:endParaRPr/>
          </a:p>
          <a:p>
            <a:pPr indent="0" lvl="0" marL="0" marR="0" rtl="0" algn="l">
              <a:spcBef>
                <a:spcPts val="1200"/>
              </a:spcBef>
              <a:spcAft>
                <a:spcPts val="0"/>
              </a:spcAft>
              <a:buNone/>
            </a:pPr>
            <a:r>
              <a:rPr b="0" i="0" lang="en-US" sz="1500" u="none" cap="none" strike="noStrike">
                <a:solidFill>
                  <a:srgbClr val="475569"/>
                </a:solidFill>
                <a:latin typeface="Calibri"/>
                <a:ea typeface="Calibri"/>
                <a:cs typeface="Calibri"/>
                <a:sym typeface="Calibri"/>
              </a:rPr>
              <a:t>•  Expect consistent answers to the same prompt</a:t>
            </a:r>
            <a:endParaRPr/>
          </a:p>
          <a:p>
            <a:pPr indent="0" lvl="0" marL="0" marR="0" rtl="0" algn="l">
              <a:spcBef>
                <a:spcPts val="1200"/>
              </a:spcBef>
              <a:spcAft>
                <a:spcPts val="0"/>
              </a:spcAft>
              <a:buNone/>
            </a:pPr>
            <a:r>
              <a:rPr b="0" i="0" lang="en-US" sz="1500" u="none" cap="none" strike="noStrike">
                <a:solidFill>
                  <a:srgbClr val="475569"/>
                </a:solidFill>
                <a:latin typeface="Calibri"/>
                <a:ea typeface="Calibri"/>
                <a:cs typeface="Calibri"/>
                <a:sym typeface="Calibri"/>
              </a:rPr>
              <a:t>•  Judge quality by human review alone</a:t>
            </a:r>
            <a:endParaRPr/>
          </a:p>
          <a:p>
            <a:pPr indent="0" lvl="0" marL="0" marR="0" rtl="0" algn="l">
              <a:spcBef>
                <a:spcPts val="1200"/>
              </a:spcBef>
              <a:spcAft>
                <a:spcPts val="0"/>
              </a:spcAft>
              <a:buNone/>
            </a:pPr>
            <a:r>
              <a:rPr b="0" i="0" lang="en-US" sz="1500" u="none" cap="none" strike="noStrike">
                <a:solidFill>
                  <a:srgbClr val="475569"/>
                </a:solidFill>
                <a:latin typeface="Calibri"/>
                <a:ea typeface="Calibri"/>
                <a:cs typeface="Calibri"/>
                <a:sym typeface="Calibri"/>
              </a:rPr>
              <a:t>•  Single behaviour regardless of context</a:t>
            </a:r>
            <a:endParaRPr/>
          </a:p>
        </p:txBody>
      </p:sp>
      <p:sp>
        <p:nvSpPr>
          <p:cNvPr id="113" name="Google Shape;113;p15"/>
          <p:cNvSpPr/>
          <p:nvPr/>
        </p:nvSpPr>
        <p:spPr>
          <a:xfrm>
            <a:off x="6263640" y="1682718"/>
            <a:ext cx="5486400" cy="50748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5"/>
          <p:cNvSpPr/>
          <p:nvPr/>
        </p:nvSpPr>
        <p:spPr>
          <a:xfrm>
            <a:off x="6263640" y="1586018"/>
            <a:ext cx="5486400" cy="1098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5"/>
          <p:cNvSpPr txBox="1"/>
          <p:nvPr/>
        </p:nvSpPr>
        <p:spPr>
          <a:xfrm>
            <a:off x="6492240" y="2036306"/>
            <a:ext cx="5029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E293B"/>
                </a:solidFill>
                <a:latin typeface="Calibri"/>
                <a:ea typeface="Calibri"/>
                <a:cs typeface="Calibri"/>
                <a:sym typeface="Calibri"/>
              </a:rPr>
              <a:t>RAG Chatbot QA (YourAI)</a:t>
            </a:r>
            <a:endParaRPr/>
          </a:p>
        </p:txBody>
      </p:sp>
      <p:sp>
        <p:nvSpPr>
          <p:cNvPr id="116" name="Google Shape;116;p15"/>
          <p:cNvSpPr txBox="1"/>
          <p:nvPr/>
        </p:nvSpPr>
        <p:spPr>
          <a:xfrm>
            <a:off x="6492240" y="2459250"/>
            <a:ext cx="50292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475569"/>
                </a:solidFill>
                <a:latin typeface="Calibri"/>
                <a:ea typeface="Calibri"/>
                <a:cs typeface="Calibri"/>
                <a:sym typeface="Calibri"/>
              </a:rPr>
              <a:t>•  Verify the answer comes from the correct uploaded document</a:t>
            </a:r>
            <a:endParaRPr/>
          </a:p>
          <a:p>
            <a:pPr indent="0" lvl="0" marL="0" marR="0" rtl="0" algn="l">
              <a:spcBef>
                <a:spcPts val="1200"/>
              </a:spcBef>
              <a:spcAft>
                <a:spcPts val="0"/>
              </a:spcAft>
              <a:buNone/>
            </a:pPr>
            <a:r>
              <a:rPr b="0" i="0" lang="en-US" sz="1500" u="none" cap="none" strike="noStrike">
                <a:solidFill>
                  <a:srgbClr val="475569"/>
                </a:solidFill>
                <a:latin typeface="Calibri"/>
                <a:ea typeface="Calibri"/>
                <a:cs typeface="Calibri"/>
                <a:sym typeface="Calibri"/>
              </a:rPr>
              <a:t>•  Non-deterministic outputs require statistical scoring</a:t>
            </a:r>
            <a:endParaRPr/>
          </a:p>
          <a:p>
            <a:pPr indent="0" lvl="0" marL="0" marR="0" rtl="0" algn="l">
              <a:spcBef>
                <a:spcPts val="1200"/>
              </a:spcBef>
              <a:spcAft>
                <a:spcPts val="0"/>
              </a:spcAft>
              <a:buNone/>
            </a:pPr>
            <a:r>
              <a:rPr b="0" i="0" lang="en-US" sz="1500" u="none" cap="none" strike="noStrike">
                <a:solidFill>
                  <a:srgbClr val="475569"/>
                </a:solidFill>
                <a:latin typeface="Calibri"/>
                <a:ea typeface="Calibri"/>
                <a:cs typeface="Calibri"/>
                <a:sym typeface="Calibri"/>
              </a:rPr>
              <a:t>•  Requires ground truth + an automated judge (LLM)</a:t>
            </a:r>
            <a:endParaRPr/>
          </a:p>
          <a:p>
            <a:pPr indent="0" lvl="0" marL="0" marR="0" rtl="0" algn="l">
              <a:spcBef>
                <a:spcPts val="1200"/>
              </a:spcBef>
              <a:spcAft>
                <a:spcPts val="0"/>
              </a:spcAft>
              <a:buNone/>
            </a:pPr>
            <a:r>
              <a:rPr b="0" i="0" lang="en-US" sz="1500" u="none" cap="none" strike="noStrike">
                <a:solidFill>
                  <a:srgbClr val="475569"/>
                </a:solidFill>
                <a:latin typeface="Calibri"/>
                <a:ea typeface="Calibri"/>
                <a:cs typeface="Calibri"/>
                <a:sym typeface="Calibri"/>
              </a:rPr>
              <a:t>•  Multiple intents/modes change prompts, tone, and behaviour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0" name="Shape 120"/>
        <p:cNvGrpSpPr/>
        <p:nvPr/>
      </p:nvGrpSpPr>
      <p:grpSpPr>
        <a:xfrm>
          <a:off x="0" y="0"/>
          <a:ext cx="0" cy="0"/>
          <a:chOff x="0" y="0"/>
          <a:chExt cx="0" cy="0"/>
        </a:xfrm>
      </p:grpSpPr>
      <p:sp>
        <p:nvSpPr>
          <p:cNvPr id="121" name="Google Shape;121;p16"/>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6"/>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6"/>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What Is RAG?</a:t>
            </a:r>
            <a:endParaRPr/>
          </a:p>
        </p:txBody>
      </p:sp>
      <p:sp>
        <p:nvSpPr>
          <p:cNvPr id="124" name="Google Shape;124;p16"/>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Retrieval-Augmented Generation — the architecture behind YourAI document Q&amp;A</a:t>
            </a:r>
            <a:endParaRPr/>
          </a:p>
        </p:txBody>
      </p:sp>
      <p:pic>
        <p:nvPicPr>
          <p:cNvPr descr="rag_concept.png" id="125" name="Google Shape;125;p16"/>
          <p:cNvPicPr preferRelativeResize="0"/>
          <p:nvPr/>
        </p:nvPicPr>
        <p:blipFill rotWithShape="1">
          <a:blip r:embed="rId3">
            <a:alphaModFix/>
          </a:blip>
          <a:srcRect b="0" l="0" r="0" t="0"/>
          <a:stretch/>
        </p:blipFill>
        <p:spPr>
          <a:xfrm>
            <a:off x="411480" y="1234440"/>
            <a:ext cx="11338560" cy="42114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9" name="Shape 129"/>
        <p:cNvGrpSpPr/>
        <p:nvPr/>
      </p:nvGrpSpPr>
      <p:grpSpPr>
        <a:xfrm>
          <a:off x="0" y="0"/>
          <a:ext cx="0" cy="0"/>
          <a:chOff x="0" y="0"/>
          <a:chExt cx="0" cy="0"/>
        </a:xfrm>
      </p:grpSpPr>
      <p:sp>
        <p:nvSpPr>
          <p:cNvPr id="130" name="Google Shape;130;p17"/>
          <p:cNvSpPr/>
          <p:nvPr/>
        </p:nvSpPr>
        <p:spPr>
          <a:xfrm>
            <a:off x="868680" y="2331720"/>
            <a:ext cx="1463040" cy="54864"/>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7"/>
          <p:cNvSpPr txBox="1"/>
          <p:nvPr/>
        </p:nvSpPr>
        <p:spPr>
          <a:xfrm>
            <a:off x="868680" y="1417320"/>
            <a:ext cx="10058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DBEAFE"/>
                </a:solidFill>
                <a:latin typeface="Calibri"/>
                <a:ea typeface="Calibri"/>
                <a:cs typeface="Calibri"/>
                <a:sym typeface="Calibri"/>
              </a:rPr>
              <a:t>PART 02</a:t>
            </a:r>
            <a:endParaRPr/>
          </a:p>
        </p:txBody>
      </p:sp>
      <p:sp>
        <p:nvSpPr>
          <p:cNvPr id="132" name="Google Shape;132;p17"/>
          <p:cNvSpPr txBox="1"/>
          <p:nvPr/>
        </p:nvSpPr>
        <p:spPr>
          <a:xfrm>
            <a:off x="868680" y="2514600"/>
            <a:ext cx="10515600" cy="1280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FFFFFF"/>
                </a:solidFill>
                <a:latin typeface="Calibri"/>
                <a:ea typeface="Calibri"/>
                <a:cs typeface="Calibri"/>
                <a:sym typeface="Calibri"/>
              </a:rPr>
              <a:t>Our Evaluation Framework</a:t>
            </a:r>
            <a:endParaRPr/>
          </a:p>
        </p:txBody>
      </p:sp>
      <p:sp>
        <p:nvSpPr>
          <p:cNvPr id="133" name="Google Shape;133;p17"/>
          <p:cNvSpPr txBox="1"/>
          <p:nvPr/>
        </p:nvSpPr>
        <p:spPr>
          <a:xfrm>
            <a:off x="868680" y="3977639"/>
            <a:ext cx="96012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CBD5E1"/>
                </a:solidFill>
                <a:latin typeface="Calibri"/>
                <a:ea typeface="Calibri"/>
                <a:cs typeface="Calibri"/>
                <a:sym typeface="Calibri"/>
              </a:rPr>
              <a:t>A three-layer model: answer quality · retrieval grounding · product compliance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7" name="Shape 137"/>
        <p:cNvGrpSpPr/>
        <p:nvPr/>
      </p:nvGrpSpPr>
      <p:grpSpPr>
        <a:xfrm>
          <a:off x="0" y="0"/>
          <a:ext cx="0" cy="0"/>
          <a:chOff x="0" y="0"/>
          <a:chExt cx="0" cy="0"/>
        </a:xfrm>
      </p:grpSpPr>
      <p:sp>
        <p:nvSpPr>
          <p:cNvPr id="138" name="Google Shape;138;p18"/>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8"/>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8"/>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The Core Idea: AI Testing AI</a:t>
            </a:r>
            <a:endParaRPr/>
          </a:p>
        </p:txBody>
      </p:sp>
      <p:sp>
        <p:nvSpPr>
          <p:cNvPr id="141" name="Google Shape;141;p18"/>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Humans define what to test — AI generates ground truth and AI judges the answers</a:t>
            </a:r>
            <a:endParaRPr/>
          </a:p>
        </p:txBody>
      </p:sp>
      <p:sp>
        <p:nvSpPr>
          <p:cNvPr id="142" name="Google Shape;142;p18"/>
          <p:cNvSpPr/>
          <p:nvPr/>
        </p:nvSpPr>
        <p:spPr>
          <a:xfrm>
            <a:off x="502920" y="1417320"/>
            <a:ext cx="3520440" cy="443484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8"/>
          <p:cNvSpPr/>
          <p:nvPr/>
        </p:nvSpPr>
        <p:spPr>
          <a:xfrm>
            <a:off x="502920" y="1417320"/>
            <a:ext cx="3520440" cy="91440"/>
          </a:xfrm>
          <a:prstGeom prst="rect">
            <a:avLst/>
          </a:prstGeom>
          <a:solidFill>
            <a:srgbClr val="4755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8"/>
          <p:cNvSpPr txBox="1"/>
          <p:nvPr/>
        </p:nvSpPr>
        <p:spPr>
          <a:xfrm>
            <a:off x="685800" y="16184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Human QA</a:t>
            </a:r>
            <a:endParaRPr/>
          </a:p>
        </p:txBody>
      </p:sp>
      <p:sp>
        <p:nvSpPr>
          <p:cNvPr id="145" name="Google Shape;145;p18"/>
          <p:cNvSpPr txBox="1"/>
          <p:nvPr/>
        </p:nvSpPr>
        <p:spPr>
          <a:xfrm>
            <a:off x="685800" y="22860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146" name="Google Shape;146;p18"/>
          <p:cNvSpPr txBox="1"/>
          <p:nvPr/>
        </p:nvSpPr>
        <p:spPr>
          <a:xfrm>
            <a:off x="685800" y="24871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What is their role?</a:t>
            </a:r>
            <a:endParaRPr/>
          </a:p>
        </p:txBody>
      </p:sp>
      <p:sp>
        <p:nvSpPr>
          <p:cNvPr id="147" name="Google Shape;147;p18"/>
          <p:cNvSpPr txBox="1"/>
          <p:nvPr/>
        </p:nvSpPr>
        <p:spPr>
          <a:xfrm>
            <a:off x="685800" y="29443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148" name="Google Shape;148;p18"/>
          <p:cNvSpPr txBox="1"/>
          <p:nvPr/>
        </p:nvSpPr>
        <p:spPr>
          <a:xfrm>
            <a:off x="685800" y="3145536"/>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Designs questions, selects intents, validates edge cases, interprets reports, signs off releases.</a:t>
            </a:r>
            <a:endParaRPr/>
          </a:p>
        </p:txBody>
      </p:sp>
      <p:sp>
        <p:nvSpPr>
          <p:cNvPr id="149" name="Google Shape;149;p18"/>
          <p:cNvSpPr/>
          <p:nvPr/>
        </p:nvSpPr>
        <p:spPr>
          <a:xfrm>
            <a:off x="4297680" y="1417320"/>
            <a:ext cx="3520440" cy="443484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18"/>
          <p:cNvSpPr/>
          <p:nvPr/>
        </p:nvSpPr>
        <p:spPr>
          <a:xfrm>
            <a:off x="4297680" y="1417320"/>
            <a:ext cx="3520440" cy="9144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8"/>
          <p:cNvSpPr txBox="1"/>
          <p:nvPr/>
        </p:nvSpPr>
        <p:spPr>
          <a:xfrm>
            <a:off x="4480560" y="16184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Generator LLM</a:t>
            </a:r>
            <a:endParaRPr/>
          </a:p>
        </p:txBody>
      </p:sp>
      <p:sp>
        <p:nvSpPr>
          <p:cNvPr id="152" name="Google Shape;152;p18"/>
          <p:cNvSpPr txBox="1"/>
          <p:nvPr/>
        </p:nvSpPr>
        <p:spPr>
          <a:xfrm>
            <a:off x="4480560" y="22860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153" name="Google Shape;153;p18"/>
          <p:cNvSpPr txBox="1"/>
          <p:nvPr/>
        </p:nvSpPr>
        <p:spPr>
          <a:xfrm>
            <a:off x="4480560" y="24871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What does it do?</a:t>
            </a:r>
            <a:endParaRPr/>
          </a:p>
        </p:txBody>
      </p:sp>
      <p:sp>
        <p:nvSpPr>
          <p:cNvPr id="154" name="Google Shape;154;p18"/>
          <p:cNvSpPr txBox="1"/>
          <p:nvPr/>
        </p:nvSpPr>
        <p:spPr>
          <a:xfrm>
            <a:off x="4480560" y="29443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155" name="Google Shape;155;p18"/>
          <p:cNvSpPr txBox="1"/>
          <p:nvPr/>
        </p:nvSpPr>
        <p:spPr>
          <a:xfrm>
            <a:off x="4480560" y="3145536"/>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Reads uploaded documents and produces ground-truth answers — no legal expert needed for every case.</a:t>
            </a:r>
            <a:endParaRPr/>
          </a:p>
        </p:txBody>
      </p:sp>
      <p:sp>
        <p:nvSpPr>
          <p:cNvPr id="156" name="Google Shape;156;p18"/>
          <p:cNvSpPr/>
          <p:nvPr/>
        </p:nvSpPr>
        <p:spPr>
          <a:xfrm>
            <a:off x="8092440" y="1417320"/>
            <a:ext cx="3520440" cy="443484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8"/>
          <p:cNvSpPr/>
          <p:nvPr/>
        </p:nvSpPr>
        <p:spPr>
          <a:xfrm>
            <a:off x="8092440" y="1417320"/>
            <a:ext cx="3520440" cy="91440"/>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8"/>
          <p:cNvSpPr txBox="1"/>
          <p:nvPr/>
        </p:nvSpPr>
        <p:spPr>
          <a:xfrm>
            <a:off x="8275320" y="16184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Judge LLM</a:t>
            </a:r>
            <a:endParaRPr/>
          </a:p>
        </p:txBody>
      </p:sp>
      <p:sp>
        <p:nvSpPr>
          <p:cNvPr id="159" name="Google Shape;159;p18"/>
          <p:cNvSpPr txBox="1"/>
          <p:nvPr/>
        </p:nvSpPr>
        <p:spPr>
          <a:xfrm>
            <a:off x="8275320" y="22860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160" name="Google Shape;160;p18"/>
          <p:cNvSpPr txBox="1"/>
          <p:nvPr/>
        </p:nvSpPr>
        <p:spPr>
          <a:xfrm>
            <a:off x="8275320" y="24871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What does it do?</a:t>
            </a:r>
            <a:endParaRPr/>
          </a:p>
        </p:txBody>
      </p:sp>
      <p:sp>
        <p:nvSpPr>
          <p:cNvPr id="161" name="Google Shape;161;p18"/>
          <p:cNvSpPr txBox="1"/>
          <p:nvPr/>
        </p:nvSpPr>
        <p:spPr>
          <a:xfrm>
            <a:off x="8275320" y="29443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162" name="Google Shape;162;p18"/>
          <p:cNvSpPr txBox="1"/>
          <p:nvPr/>
        </p:nvSpPr>
        <p:spPr>
          <a:xfrm>
            <a:off x="8275320" y="3145536"/>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Scores every chatbot answer against ground truth, retrieved context, and prompt rules — at scale.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6" name="Shape 166"/>
        <p:cNvGrpSpPr/>
        <p:nvPr/>
      </p:nvGrpSpPr>
      <p:grpSpPr>
        <a:xfrm>
          <a:off x="0" y="0"/>
          <a:ext cx="0" cy="0"/>
          <a:chOff x="0" y="0"/>
          <a:chExt cx="0" cy="0"/>
        </a:xfrm>
      </p:grpSpPr>
      <p:sp>
        <p:nvSpPr>
          <p:cNvPr id="167" name="Google Shape;167;p19"/>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9"/>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9"/>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Three-Layer Evaluation Model</a:t>
            </a:r>
            <a:endParaRPr/>
          </a:p>
        </p:txBody>
      </p:sp>
      <p:sp>
        <p:nvSpPr>
          <p:cNvPr id="170" name="Google Shape;170;p19"/>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Each layer catches different failure modes — all three are required</a:t>
            </a:r>
            <a:endParaRPr/>
          </a:p>
        </p:txBody>
      </p:sp>
      <p:pic>
        <p:nvPicPr>
          <p:cNvPr descr="three_layers_v2.png" id="171" name="Google Shape;171;p19"/>
          <p:cNvPicPr preferRelativeResize="0"/>
          <p:nvPr/>
        </p:nvPicPr>
        <p:blipFill rotWithShape="1">
          <a:blip r:embed="rId3">
            <a:alphaModFix/>
          </a:blip>
          <a:srcRect b="0" l="0" r="0" t="0"/>
          <a:stretch/>
        </p:blipFill>
        <p:spPr>
          <a:xfrm>
            <a:off x="320040" y="1143000"/>
            <a:ext cx="11521440" cy="4608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5" name="Shape 175"/>
        <p:cNvGrpSpPr/>
        <p:nvPr/>
      </p:nvGrpSpPr>
      <p:grpSpPr>
        <a:xfrm>
          <a:off x="0" y="0"/>
          <a:ext cx="0" cy="0"/>
          <a:chOff x="0" y="0"/>
          <a:chExt cx="0" cy="0"/>
        </a:xfrm>
      </p:grpSpPr>
      <p:sp>
        <p:nvSpPr>
          <p:cNvPr id="176" name="Google Shape;176;p20"/>
          <p:cNvSpPr/>
          <p:nvPr/>
        </p:nvSpPr>
        <p:spPr>
          <a:xfrm>
            <a:off x="868680" y="2331720"/>
            <a:ext cx="1463040" cy="54864"/>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20"/>
          <p:cNvSpPr txBox="1"/>
          <p:nvPr/>
        </p:nvSpPr>
        <p:spPr>
          <a:xfrm>
            <a:off x="868680" y="1417320"/>
            <a:ext cx="10058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DBEAFE"/>
                </a:solidFill>
                <a:latin typeface="Calibri"/>
                <a:ea typeface="Calibri"/>
                <a:cs typeface="Calibri"/>
                <a:sym typeface="Calibri"/>
              </a:rPr>
              <a:t>PART 03</a:t>
            </a:r>
            <a:endParaRPr/>
          </a:p>
        </p:txBody>
      </p:sp>
      <p:sp>
        <p:nvSpPr>
          <p:cNvPr id="178" name="Google Shape;178;p20"/>
          <p:cNvSpPr txBox="1"/>
          <p:nvPr/>
        </p:nvSpPr>
        <p:spPr>
          <a:xfrm>
            <a:off x="868680" y="2514600"/>
            <a:ext cx="10515600" cy="1280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FFFFFF"/>
                </a:solidFill>
                <a:latin typeface="Calibri"/>
                <a:ea typeface="Calibri"/>
                <a:cs typeface="Calibri"/>
                <a:sym typeface="Calibri"/>
              </a:rPr>
              <a:t>Metrics That Matter</a:t>
            </a:r>
            <a:endParaRPr/>
          </a:p>
        </p:txBody>
      </p:sp>
      <p:sp>
        <p:nvSpPr>
          <p:cNvPr id="179" name="Google Shape;179;p20"/>
          <p:cNvSpPr txBox="1"/>
          <p:nvPr/>
        </p:nvSpPr>
        <p:spPr>
          <a:xfrm>
            <a:off x="868680" y="3977639"/>
            <a:ext cx="96012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CBD5E1"/>
                </a:solidFill>
                <a:latin typeface="Calibri"/>
                <a:ea typeface="Calibri"/>
                <a:cs typeface="Calibri"/>
                <a:sym typeface="Calibri"/>
              </a:rPr>
              <a:t>RAGAs · DeepEval · LLM-as-Judge — what we measure, why, and how to read scores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83" name="Shape 183"/>
        <p:cNvGrpSpPr/>
        <p:nvPr/>
      </p:nvGrpSpPr>
      <p:grpSpPr>
        <a:xfrm>
          <a:off x="0" y="0"/>
          <a:ext cx="0" cy="0"/>
          <a:chOff x="0" y="0"/>
          <a:chExt cx="0" cy="0"/>
        </a:xfrm>
      </p:grpSpPr>
      <p:sp>
        <p:nvSpPr>
          <p:cNvPr id="184" name="Google Shape;184;p21"/>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21"/>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21"/>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What Is RAGAs?</a:t>
            </a:r>
            <a:endParaRPr/>
          </a:p>
        </p:txBody>
      </p:sp>
      <p:sp>
        <p:nvSpPr>
          <p:cNvPr id="187" name="Google Shape;187;p21"/>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An open-source framework specifically designed to evaluate RAG and LLM applications</a:t>
            </a:r>
            <a:endParaRPr/>
          </a:p>
        </p:txBody>
      </p:sp>
      <p:sp>
        <p:nvSpPr>
          <p:cNvPr id="188" name="Google Shape;188;p21"/>
          <p:cNvSpPr txBox="1"/>
          <p:nvPr/>
        </p:nvSpPr>
        <p:spPr>
          <a:xfrm>
            <a:off x="594360" y="1325880"/>
            <a:ext cx="10972800" cy="10972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475569"/>
                </a:solidFill>
                <a:latin typeface="Calibri"/>
                <a:ea typeface="Calibri"/>
                <a:cs typeface="Calibri"/>
                <a:sym typeface="Calibri"/>
              </a:rPr>
              <a:t>RAGAs (Retrieval Augmented Generation Assessment) uses an LLM judge to score chatbot outputs against reference answers and retrieved context. It is widely adopted because it separates answer quality from retrieval quality — the two distinct failure modes in any RAG system.</a:t>
            </a:r>
            <a:endParaRPr/>
          </a:p>
        </p:txBody>
      </p:sp>
      <p:sp>
        <p:nvSpPr>
          <p:cNvPr id="189" name="Google Shape;189;p21"/>
          <p:cNvSpPr/>
          <p:nvPr/>
        </p:nvSpPr>
        <p:spPr>
          <a:xfrm>
            <a:off x="594360" y="2743200"/>
            <a:ext cx="10972800" cy="123444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21"/>
          <p:cNvSpPr/>
          <p:nvPr/>
        </p:nvSpPr>
        <p:spPr>
          <a:xfrm>
            <a:off x="594360" y="2743200"/>
            <a:ext cx="91440" cy="123444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21"/>
          <p:cNvSpPr txBox="1"/>
          <p:nvPr/>
        </p:nvSpPr>
        <p:spPr>
          <a:xfrm>
            <a:off x="868680" y="2880360"/>
            <a:ext cx="4114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E293B"/>
                </a:solidFill>
                <a:latin typeface="Calibri"/>
                <a:ea typeface="Calibri"/>
                <a:cs typeface="Calibri"/>
                <a:sym typeface="Calibri"/>
              </a:rPr>
              <a:t>Tier 1 — Generation</a:t>
            </a:r>
            <a:endParaRPr/>
          </a:p>
        </p:txBody>
      </p:sp>
      <p:sp>
        <p:nvSpPr>
          <p:cNvPr id="192" name="Google Shape;192;p21"/>
          <p:cNvSpPr txBox="1"/>
          <p:nvPr/>
        </p:nvSpPr>
        <p:spPr>
          <a:xfrm>
            <a:off x="868680" y="3200400"/>
            <a:ext cx="6858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Did the chatbot say the right thing?</a:t>
            </a:r>
            <a:endParaRPr/>
          </a:p>
        </p:txBody>
      </p:sp>
      <p:sp>
        <p:nvSpPr>
          <p:cNvPr id="193" name="Google Shape;193;p21"/>
          <p:cNvSpPr txBox="1"/>
          <p:nvPr/>
        </p:nvSpPr>
        <p:spPr>
          <a:xfrm>
            <a:off x="7863840" y="3063240"/>
            <a:ext cx="3474720" cy="5029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00" u="none" cap="none" strike="noStrike">
                <a:solidFill>
                  <a:srgbClr val="2563EB"/>
                </a:solidFill>
                <a:latin typeface="Calibri"/>
                <a:ea typeface="Calibri"/>
                <a:cs typeface="Calibri"/>
                <a:sym typeface="Calibri"/>
              </a:rPr>
              <a:t>Always active</a:t>
            </a:r>
            <a:endParaRPr/>
          </a:p>
        </p:txBody>
      </p:sp>
      <p:sp>
        <p:nvSpPr>
          <p:cNvPr id="194" name="Google Shape;194;p21"/>
          <p:cNvSpPr/>
          <p:nvPr/>
        </p:nvSpPr>
        <p:spPr>
          <a:xfrm>
            <a:off x="594360" y="4160520"/>
            <a:ext cx="10972800" cy="123444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21"/>
          <p:cNvSpPr/>
          <p:nvPr/>
        </p:nvSpPr>
        <p:spPr>
          <a:xfrm>
            <a:off x="594360" y="4160520"/>
            <a:ext cx="91440" cy="1234440"/>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21"/>
          <p:cNvSpPr txBox="1"/>
          <p:nvPr/>
        </p:nvSpPr>
        <p:spPr>
          <a:xfrm>
            <a:off x="868680" y="4297680"/>
            <a:ext cx="4114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E293B"/>
                </a:solidFill>
                <a:latin typeface="Calibri"/>
                <a:ea typeface="Calibri"/>
                <a:cs typeface="Calibri"/>
                <a:sym typeface="Calibri"/>
              </a:rPr>
              <a:t>Tier 2 — Retrieval</a:t>
            </a:r>
            <a:endParaRPr/>
          </a:p>
        </p:txBody>
      </p:sp>
      <p:sp>
        <p:nvSpPr>
          <p:cNvPr id="197" name="Google Shape;197;p21"/>
          <p:cNvSpPr txBox="1"/>
          <p:nvPr/>
        </p:nvSpPr>
        <p:spPr>
          <a:xfrm>
            <a:off x="868680" y="4617720"/>
            <a:ext cx="6858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Did it use the right source material?</a:t>
            </a:r>
            <a:endParaRPr/>
          </a:p>
        </p:txBody>
      </p:sp>
      <p:sp>
        <p:nvSpPr>
          <p:cNvPr id="198" name="Google Shape;198;p21"/>
          <p:cNvSpPr txBox="1"/>
          <p:nvPr/>
        </p:nvSpPr>
        <p:spPr>
          <a:xfrm>
            <a:off x="7863840" y="4480559"/>
            <a:ext cx="3474720" cy="5029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00" u="none" cap="none" strike="noStrike">
                <a:solidFill>
                  <a:srgbClr val="0D9488"/>
                </a:solidFill>
                <a:latin typeface="Calibri"/>
                <a:ea typeface="Calibri"/>
                <a:cs typeface="Calibri"/>
                <a:sym typeface="Calibri"/>
              </a:rPr>
              <a:t>Active when document context is available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2" name="Shape 202"/>
        <p:cNvGrpSpPr/>
        <p:nvPr/>
      </p:nvGrpSpPr>
      <p:grpSpPr>
        <a:xfrm>
          <a:off x="0" y="0"/>
          <a:ext cx="0" cy="0"/>
          <a:chOff x="0" y="0"/>
          <a:chExt cx="0" cy="0"/>
        </a:xfrm>
      </p:grpSpPr>
      <p:sp>
        <p:nvSpPr>
          <p:cNvPr id="203" name="Google Shape;203;p22"/>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22"/>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2"/>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RAGAs Tier 1 — Answer Quality Metrics</a:t>
            </a:r>
            <a:endParaRPr/>
          </a:p>
        </p:txBody>
      </p:sp>
      <p:sp>
        <p:nvSpPr>
          <p:cNvPr id="206" name="Google Shape;206;p22"/>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Layer 1 · Compares chatbot answer vs reference ground truth · Always evaluated</a:t>
            </a:r>
            <a:endParaRPr/>
          </a:p>
        </p:txBody>
      </p:sp>
      <p:sp>
        <p:nvSpPr>
          <p:cNvPr id="207" name="Google Shape;207;p22"/>
          <p:cNvSpPr/>
          <p:nvPr/>
        </p:nvSpPr>
        <p:spPr>
          <a:xfrm>
            <a:off x="495150" y="1417325"/>
            <a:ext cx="3520500" cy="36738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22"/>
          <p:cNvSpPr/>
          <p:nvPr/>
        </p:nvSpPr>
        <p:spPr>
          <a:xfrm>
            <a:off x="495147" y="1417320"/>
            <a:ext cx="3520440" cy="9144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2"/>
          <p:cNvSpPr txBox="1"/>
          <p:nvPr/>
        </p:nvSpPr>
        <p:spPr>
          <a:xfrm>
            <a:off x="678027" y="16184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Answer Relevancy</a:t>
            </a:r>
            <a:endParaRPr/>
          </a:p>
        </p:txBody>
      </p:sp>
      <p:sp>
        <p:nvSpPr>
          <p:cNvPr id="210" name="Google Shape;210;p22"/>
          <p:cNvSpPr txBox="1"/>
          <p:nvPr/>
        </p:nvSpPr>
        <p:spPr>
          <a:xfrm>
            <a:off x="678027" y="1984248"/>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2563EB"/>
                </a:solidFill>
                <a:latin typeface="Calibri"/>
                <a:ea typeface="Calibri"/>
                <a:cs typeface="Calibri"/>
                <a:sym typeface="Calibri"/>
              </a:rPr>
              <a:t>Tier 1 · RAGAs</a:t>
            </a:r>
            <a:endParaRPr/>
          </a:p>
        </p:txBody>
      </p:sp>
      <p:sp>
        <p:nvSpPr>
          <p:cNvPr id="211" name="Google Shape;211;p22"/>
          <p:cNvSpPr txBox="1"/>
          <p:nvPr/>
        </p:nvSpPr>
        <p:spPr>
          <a:xfrm>
            <a:off x="678027" y="22860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212" name="Google Shape;212;p22"/>
          <p:cNvSpPr txBox="1"/>
          <p:nvPr/>
        </p:nvSpPr>
        <p:spPr>
          <a:xfrm>
            <a:off x="678027" y="24871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Did the chatbot address the actual question asked?</a:t>
            </a:r>
            <a:endParaRPr/>
          </a:p>
        </p:txBody>
      </p:sp>
      <p:sp>
        <p:nvSpPr>
          <p:cNvPr id="213" name="Google Shape;213;p22"/>
          <p:cNvSpPr txBox="1"/>
          <p:nvPr/>
        </p:nvSpPr>
        <p:spPr>
          <a:xfrm>
            <a:off x="678027" y="29443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214" name="Google Shape;214;p22"/>
          <p:cNvSpPr txBox="1"/>
          <p:nvPr/>
        </p:nvSpPr>
        <p:spPr>
          <a:xfrm>
            <a:off x="678027" y="3145536"/>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High score = focused, on-topic response with no drift into unrelated legal topics.</a:t>
            </a:r>
            <a:endParaRPr/>
          </a:p>
        </p:txBody>
      </p:sp>
      <p:sp>
        <p:nvSpPr>
          <p:cNvPr id="215" name="Google Shape;215;p22"/>
          <p:cNvSpPr txBox="1"/>
          <p:nvPr/>
        </p:nvSpPr>
        <p:spPr>
          <a:xfrm>
            <a:off x="678027" y="3602735"/>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WHEN IT FAILS</a:t>
            </a:r>
            <a:endParaRPr/>
          </a:p>
        </p:txBody>
      </p:sp>
      <p:sp>
        <p:nvSpPr>
          <p:cNvPr id="216" name="Google Shape;216;p22"/>
          <p:cNvSpPr txBox="1"/>
          <p:nvPr/>
        </p:nvSpPr>
        <p:spPr>
          <a:xfrm>
            <a:off x="678027" y="3803903"/>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Low score = user asked about sentencing but got a general lecture on criminal law.</a:t>
            </a:r>
            <a:endParaRPr/>
          </a:p>
        </p:txBody>
      </p:sp>
      <p:sp>
        <p:nvSpPr>
          <p:cNvPr id="217" name="Google Shape;217;p22"/>
          <p:cNvSpPr/>
          <p:nvPr/>
        </p:nvSpPr>
        <p:spPr>
          <a:xfrm>
            <a:off x="4335625" y="1417325"/>
            <a:ext cx="3520500" cy="36738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22"/>
          <p:cNvSpPr/>
          <p:nvPr/>
        </p:nvSpPr>
        <p:spPr>
          <a:xfrm>
            <a:off x="4335627" y="1417320"/>
            <a:ext cx="3520440" cy="9144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2"/>
          <p:cNvSpPr txBox="1"/>
          <p:nvPr/>
        </p:nvSpPr>
        <p:spPr>
          <a:xfrm>
            <a:off x="4518507" y="16184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Answer Correctness</a:t>
            </a:r>
            <a:endParaRPr/>
          </a:p>
        </p:txBody>
      </p:sp>
      <p:sp>
        <p:nvSpPr>
          <p:cNvPr id="220" name="Google Shape;220;p22"/>
          <p:cNvSpPr txBox="1"/>
          <p:nvPr/>
        </p:nvSpPr>
        <p:spPr>
          <a:xfrm>
            <a:off x="4518507" y="1984248"/>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2563EB"/>
                </a:solidFill>
                <a:latin typeface="Calibri"/>
                <a:ea typeface="Calibri"/>
                <a:cs typeface="Calibri"/>
                <a:sym typeface="Calibri"/>
              </a:rPr>
              <a:t>Tier 1 · RAGAs</a:t>
            </a:r>
            <a:endParaRPr/>
          </a:p>
        </p:txBody>
      </p:sp>
      <p:sp>
        <p:nvSpPr>
          <p:cNvPr id="221" name="Google Shape;221;p22"/>
          <p:cNvSpPr txBox="1"/>
          <p:nvPr/>
        </p:nvSpPr>
        <p:spPr>
          <a:xfrm>
            <a:off x="4518507" y="22860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222" name="Google Shape;222;p22"/>
          <p:cNvSpPr txBox="1"/>
          <p:nvPr/>
        </p:nvSpPr>
        <p:spPr>
          <a:xfrm>
            <a:off x="4518507" y="24871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Are the facts in the answer accurate vs the ground truth?</a:t>
            </a:r>
            <a:endParaRPr/>
          </a:p>
        </p:txBody>
      </p:sp>
      <p:sp>
        <p:nvSpPr>
          <p:cNvPr id="223" name="Google Shape;223;p22"/>
          <p:cNvSpPr txBox="1"/>
          <p:nvPr/>
        </p:nvSpPr>
        <p:spPr>
          <a:xfrm>
            <a:off x="4518507" y="29443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224" name="Google Shape;224;p22"/>
          <p:cNvSpPr txBox="1"/>
          <p:nvPr/>
        </p:nvSpPr>
        <p:spPr>
          <a:xfrm>
            <a:off x="4518507" y="3145536"/>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High score = charges, dates, and legal conclusions match the reference answer.</a:t>
            </a:r>
            <a:endParaRPr/>
          </a:p>
        </p:txBody>
      </p:sp>
      <p:sp>
        <p:nvSpPr>
          <p:cNvPr id="225" name="Google Shape;225;p22"/>
          <p:cNvSpPr txBox="1"/>
          <p:nvPr/>
        </p:nvSpPr>
        <p:spPr>
          <a:xfrm>
            <a:off x="4518507" y="3602735"/>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WHEN IT FAILS</a:t>
            </a:r>
            <a:endParaRPr/>
          </a:p>
        </p:txBody>
      </p:sp>
      <p:sp>
        <p:nvSpPr>
          <p:cNvPr id="226" name="Google Shape;226;p22"/>
          <p:cNvSpPr txBox="1"/>
          <p:nvPr/>
        </p:nvSpPr>
        <p:spPr>
          <a:xfrm>
            <a:off x="4518507" y="3803903"/>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Low score = wrong count of charges, incorrect court ruling, or fabricated case details.</a:t>
            </a:r>
            <a:endParaRPr/>
          </a:p>
        </p:txBody>
      </p:sp>
      <p:sp>
        <p:nvSpPr>
          <p:cNvPr id="227" name="Google Shape;227;p22"/>
          <p:cNvSpPr/>
          <p:nvPr/>
        </p:nvSpPr>
        <p:spPr>
          <a:xfrm>
            <a:off x="8176100" y="1417325"/>
            <a:ext cx="3520500" cy="36738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22"/>
          <p:cNvSpPr/>
          <p:nvPr/>
        </p:nvSpPr>
        <p:spPr>
          <a:xfrm>
            <a:off x="8176107" y="1417320"/>
            <a:ext cx="3520440" cy="9144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22"/>
          <p:cNvSpPr txBox="1"/>
          <p:nvPr/>
        </p:nvSpPr>
        <p:spPr>
          <a:xfrm>
            <a:off x="8358987" y="16184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Answer Similarity</a:t>
            </a:r>
            <a:endParaRPr/>
          </a:p>
        </p:txBody>
      </p:sp>
      <p:sp>
        <p:nvSpPr>
          <p:cNvPr id="230" name="Google Shape;230;p22"/>
          <p:cNvSpPr txBox="1"/>
          <p:nvPr/>
        </p:nvSpPr>
        <p:spPr>
          <a:xfrm>
            <a:off x="8358987" y="1984248"/>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2563EB"/>
                </a:solidFill>
                <a:latin typeface="Calibri"/>
                <a:ea typeface="Calibri"/>
                <a:cs typeface="Calibri"/>
                <a:sym typeface="Calibri"/>
              </a:rPr>
              <a:t>Tier 1 · RAGAs</a:t>
            </a:r>
            <a:endParaRPr/>
          </a:p>
        </p:txBody>
      </p:sp>
      <p:sp>
        <p:nvSpPr>
          <p:cNvPr id="231" name="Google Shape;231;p22"/>
          <p:cNvSpPr txBox="1"/>
          <p:nvPr/>
        </p:nvSpPr>
        <p:spPr>
          <a:xfrm>
            <a:off x="8358987" y="22860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232" name="Google Shape;232;p22"/>
          <p:cNvSpPr txBox="1"/>
          <p:nvPr/>
        </p:nvSpPr>
        <p:spPr>
          <a:xfrm>
            <a:off x="8358987" y="24871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Does the answer convey the same meaning, even with different wording?</a:t>
            </a:r>
            <a:endParaRPr/>
          </a:p>
        </p:txBody>
      </p:sp>
      <p:sp>
        <p:nvSpPr>
          <p:cNvPr id="233" name="Google Shape;233;p22"/>
          <p:cNvSpPr txBox="1"/>
          <p:nvPr/>
        </p:nvSpPr>
        <p:spPr>
          <a:xfrm>
            <a:off x="8358987" y="29443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234" name="Google Shape;234;p22"/>
          <p:cNvSpPr txBox="1"/>
          <p:nvPr/>
        </p:nvSpPr>
        <p:spPr>
          <a:xfrm>
            <a:off x="8358987" y="3145536"/>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High score = semantically equivalent — phrasing differs but substance matches.</a:t>
            </a:r>
            <a:endParaRPr/>
          </a:p>
        </p:txBody>
      </p:sp>
      <p:sp>
        <p:nvSpPr>
          <p:cNvPr id="235" name="Google Shape;235;p22"/>
          <p:cNvSpPr txBox="1"/>
          <p:nvPr/>
        </p:nvSpPr>
        <p:spPr>
          <a:xfrm>
            <a:off x="8358987" y="3602735"/>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WHEN IT FAILS</a:t>
            </a:r>
            <a:endParaRPr/>
          </a:p>
        </p:txBody>
      </p:sp>
      <p:sp>
        <p:nvSpPr>
          <p:cNvPr id="236" name="Google Shape;236;p22"/>
          <p:cNvSpPr txBox="1"/>
          <p:nvPr/>
        </p:nvSpPr>
        <p:spPr>
          <a:xfrm>
            <a:off x="8358987" y="3803903"/>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Low score = correct topic but missing key legal terms or fundamentally different framing.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0" name="Shape 240"/>
        <p:cNvGrpSpPr/>
        <p:nvPr/>
      </p:nvGrpSpPr>
      <p:grpSpPr>
        <a:xfrm>
          <a:off x="0" y="0"/>
          <a:ext cx="0" cy="0"/>
          <a:chOff x="0" y="0"/>
          <a:chExt cx="0" cy="0"/>
        </a:xfrm>
      </p:grpSpPr>
      <p:sp>
        <p:nvSpPr>
          <p:cNvPr id="241" name="Google Shape;241;p23"/>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23"/>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3"/>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RAGAs Tier 2 — Retrieval &amp; Grounding Metrics</a:t>
            </a:r>
            <a:endParaRPr/>
          </a:p>
        </p:txBody>
      </p:sp>
      <p:sp>
        <p:nvSpPr>
          <p:cNvPr id="244" name="Google Shape;244;p23"/>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Layer 2 · Validates the RAG pipeline — retrieval + faithfulness to source documents</a:t>
            </a:r>
            <a:endParaRPr/>
          </a:p>
        </p:txBody>
      </p:sp>
      <p:sp>
        <p:nvSpPr>
          <p:cNvPr id="245" name="Google Shape;245;p23"/>
          <p:cNvSpPr/>
          <p:nvPr/>
        </p:nvSpPr>
        <p:spPr>
          <a:xfrm>
            <a:off x="495150" y="1417325"/>
            <a:ext cx="3520500" cy="36465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23"/>
          <p:cNvSpPr/>
          <p:nvPr/>
        </p:nvSpPr>
        <p:spPr>
          <a:xfrm>
            <a:off x="495147" y="1417320"/>
            <a:ext cx="3520440" cy="91440"/>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23"/>
          <p:cNvSpPr txBox="1"/>
          <p:nvPr/>
        </p:nvSpPr>
        <p:spPr>
          <a:xfrm>
            <a:off x="678027" y="16184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Faithfulness</a:t>
            </a:r>
            <a:endParaRPr/>
          </a:p>
        </p:txBody>
      </p:sp>
      <p:sp>
        <p:nvSpPr>
          <p:cNvPr id="248" name="Google Shape;248;p23"/>
          <p:cNvSpPr txBox="1"/>
          <p:nvPr/>
        </p:nvSpPr>
        <p:spPr>
          <a:xfrm>
            <a:off x="678027" y="1984248"/>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0D9488"/>
                </a:solidFill>
                <a:latin typeface="Calibri"/>
                <a:ea typeface="Calibri"/>
                <a:cs typeface="Calibri"/>
                <a:sym typeface="Calibri"/>
              </a:rPr>
              <a:t>Tier 2 · RAGAs</a:t>
            </a:r>
            <a:endParaRPr/>
          </a:p>
        </p:txBody>
      </p:sp>
      <p:sp>
        <p:nvSpPr>
          <p:cNvPr id="249" name="Google Shape;249;p23"/>
          <p:cNvSpPr txBox="1"/>
          <p:nvPr/>
        </p:nvSpPr>
        <p:spPr>
          <a:xfrm>
            <a:off x="678027" y="22860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250" name="Google Shape;250;p23"/>
          <p:cNvSpPr txBox="1"/>
          <p:nvPr/>
        </p:nvSpPr>
        <p:spPr>
          <a:xfrm>
            <a:off x="678027" y="24871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Is every claim in the answer supported by retrieved document text?</a:t>
            </a:r>
            <a:endParaRPr/>
          </a:p>
        </p:txBody>
      </p:sp>
      <p:sp>
        <p:nvSpPr>
          <p:cNvPr id="251" name="Google Shape;251;p23"/>
          <p:cNvSpPr txBox="1"/>
          <p:nvPr/>
        </p:nvSpPr>
        <p:spPr>
          <a:xfrm>
            <a:off x="678027" y="29443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252" name="Google Shape;252;p23"/>
          <p:cNvSpPr txBox="1"/>
          <p:nvPr/>
        </p:nvSpPr>
        <p:spPr>
          <a:xfrm>
            <a:off x="678027" y="3145536"/>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High score = answer is fully grounded — nothing invented beyond the source.</a:t>
            </a:r>
            <a:endParaRPr/>
          </a:p>
        </p:txBody>
      </p:sp>
      <p:sp>
        <p:nvSpPr>
          <p:cNvPr id="253" name="Google Shape;253;p23"/>
          <p:cNvSpPr txBox="1"/>
          <p:nvPr/>
        </p:nvSpPr>
        <p:spPr>
          <a:xfrm>
            <a:off x="678027" y="3602735"/>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WHEN IT FAILS</a:t>
            </a:r>
            <a:endParaRPr/>
          </a:p>
        </p:txBody>
      </p:sp>
      <p:sp>
        <p:nvSpPr>
          <p:cNvPr id="254" name="Google Shape;254;p23"/>
          <p:cNvSpPr txBox="1"/>
          <p:nvPr/>
        </p:nvSpPr>
        <p:spPr>
          <a:xfrm>
            <a:off x="678027" y="3803903"/>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Low score = hallucination — confident statements with no backing in the document.</a:t>
            </a:r>
            <a:endParaRPr/>
          </a:p>
        </p:txBody>
      </p:sp>
      <p:sp>
        <p:nvSpPr>
          <p:cNvPr id="255" name="Google Shape;255;p23"/>
          <p:cNvSpPr/>
          <p:nvPr/>
        </p:nvSpPr>
        <p:spPr>
          <a:xfrm>
            <a:off x="4335625" y="1417325"/>
            <a:ext cx="3520500" cy="36465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23"/>
          <p:cNvSpPr/>
          <p:nvPr/>
        </p:nvSpPr>
        <p:spPr>
          <a:xfrm>
            <a:off x="4335627" y="1417320"/>
            <a:ext cx="3520440" cy="91440"/>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3"/>
          <p:cNvSpPr txBox="1"/>
          <p:nvPr/>
        </p:nvSpPr>
        <p:spPr>
          <a:xfrm>
            <a:off x="4518507" y="16184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Context Precision</a:t>
            </a:r>
            <a:endParaRPr/>
          </a:p>
        </p:txBody>
      </p:sp>
      <p:sp>
        <p:nvSpPr>
          <p:cNvPr id="258" name="Google Shape;258;p23"/>
          <p:cNvSpPr txBox="1"/>
          <p:nvPr/>
        </p:nvSpPr>
        <p:spPr>
          <a:xfrm>
            <a:off x="4518507" y="1984248"/>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0D9488"/>
                </a:solidFill>
                <a:latin typeface="Calibri"/>
                <a:ea typeface="Calibri"/>
                <a:cs typeface="Calibri"/>
                <a:sym typeface="Calibri"/>
              </a:rPr>
              <a:t>Tier 2 · RAGAs</a:t>
            </a:r>
            <a:endParaRPr/>
          </a:p>
        </p:txBody>
      </p:sp>
      <p:sp>
        <p:nvSpPr>
          <p:cNvPr id="259" name="Google Shape;259;p23"/>
          <p:cNvSpPr txBox="1"/>
          <p:nvPr/>
        </p:nvSpPr>
        <p:spPr>
          <a:xfrm>
            <a:off x="4518507" y="22860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260" name="Google Shape;260;p23"/>
          <p:cNvSpPr txBox="1"/>
          <p:nvPr/>
        </p:nvSpPr>
        <p:spPr>
          <a:xfrm>
            <a:off x="4518507" y="24871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Of the document chunks retrieved, how many were actually relevant?</a:t>
            </a:r>
            <a:endParaRPr/>
          </a:p>
        </p:txBody>
      </p:sp>
      <p:sp>
        <p:nvSpPr>
          <p:cNvPr id="261" name="Google Shape;261;p23"/>
          <p:cNvSpPr txBox="1"/>
          <p:nvPr/>
        </p:nvSpPr>
        <p:spPr>
          <a:xfrm>
            <a:off x="4518507" y="29443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262" name="Google Shape;262;p23"/>
          <p:cNvSpPr txBox="1"/>
          <p:nvPr/>
        </p:nvSpPr>
        <p:spPr>
          <a:xfrm>
            <a:off x="4518507" y="3145536"/>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High score = retrieval pulled the right sections — minimal noise.</a:t>
            </a:r>
            <a:endParaRPr/>
          </a:p>
        </p:txBody>
      </p:sp>
      <p:sp>
        <p:nvSpPr>
          <p:cNvPr id="263" name="Google Shape;263;p23"/>
          <p:cNvSpPr txBox="1"/>
          <p:nvPr/>
        </p:nvSpPr>
        <p:spPr>
          <a:xfrm>
            <a:off x="4518507" y="3602735"/>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WHEN IT FAILS</a:t>
            </a:r>
            <a:endParaRPr/>
          </a:p>
        </p:txBody>
      </p:sp>
      <p:sp>
        <p:nvSpPr>
          <p:cNvPr id="264" name="Google Shape;264;p23"/>
          <p:cNvSpPr txBox="1"/>
          <p:nvPr/>
        </p:nvSpPr>
        <p:spPr>
          <a:xfrm>
            <a:off x="4518507" y="3803903"/>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Low score = irrelevant paragraphs mixed in, diluting the answer quality.</a:t>
            </a:r>
            <a:endParaRPr/>
          </a:p>
        </p:txBody>
      </p:sp>
      <p:sp>
        <p:nvSpPr>
          <p:cNvPr id="265" name="Google Shape;265;p23"/>
          <p:cNvSpPr/>
          <p:nvPr/>
        </p:nvSpPr>
        <p:spPr>
          <a:xfrm>
            <a:off x="8176100" y="1417325"/>
            <a:ext cx="3520500" cy="36465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6" name="Google Shape;266;p23"/>
          <p:cNvSpPr/>
          <p:nvPr/>
        </p:nvSpPr>
        <p:spPr>
          <a:xfrm>
            <a:off x="8176107" y="1417320"/>
            <a:ext cx="3520440" cy="91440"/>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23"/>
          <p:cNvSpPr txBox="1"/>
          <p:nvPr/>
        </p:nvSpPr>
        <p:spPr>
          <a:xfrm>
            <a:off x="8358987" y="16184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Context Recall</a:t>
            </a:r>
            <a:endParaRPr/>
          </a:p>
        </p:txBody>
      </p:sp>
      <p:sp>
        <p:nvSpPr>
          <p:cNvPr id="268" name="Google Shape;268;p23"/>
          <p:cNvSpPr txBox="1"/>
          <p:nvPr/>
        </p:nvSpPr>
        <p:spPr>
          <a:xfrm>
            <a:off x="8358987" y="1984248"/>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0D9488"/>
                </a:solidFill>
                <a:latin typeface="Calibri"/>
                <a:ea typeface="Calibri"/>
                <a:cs typeface="Calibri"/>
                <a:sym typeface="Calibri"/>
              </a:rPr>
              <a:t>Tier 2 · RAGAs</a:t>
            </a:r>
            <a:endParaRPr/>
          </a:p>
        </p:txBody>
      </p:sp>
      <p:sp>
        <p:nvSpPr>
          <p:cNvPr id="269" name="Google Shape;269;p23"/>
          <p:cNvSpPr txBox="1"/>
          <p:nvPr/>
        </p:nvSpPr>
        <p:spPr>
          <a:xfrm>
            <a:off x="8358987" y="22860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270" name="Google Shape;270;p23"/>
          <p:cNvSpPr txBox="1"/>
          <p:nvPr/>
        </p:nvSpPr>
        <p:spPr>
          <a:xfrm>
            <a:off x="8358987" y="24871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Did retrieval find all the source material needed for a complete answer?</a:t>
            </a:r>
            <a:endParaRPr/>
          </a:p>
        </p:txBody>
      </p:sp>
      <p:sp>
        <p:nvSpPr>
          <p:cNvPr id="271" name="Google Shape;271;p23"/>
          <p:cNvSpPr txBox="1"/>
          <p:nvPr/>
        </p:nvSpPr>
        <p:spPr>
          <a:xfrm>
            <a:off x="8358987" y="29443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272" name="Google Shape;272;p23"/>
          <p:cNvSpPr txBox="1"/>
          <p:nvPr/>
        </p:nvSpPr>
        <p:spPr>
          <a:xfrm>
            <a:off x="8358987" y="3145536"/>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High score = all facts needed for the ground truth were available to the model.</a:t>
            </a:r>
            <a:endParaRPr/>
          </a:p>
        </p:txBody>
      </p:sp>
      <p:sp>
        <p:nvSpPr>
          <p:cNvPr id="273" name="Google Shape;273;p23"/>
          <p:cNvSpPr txBox="1"/>
          <p:nvPr/>
        </p:nvSpPr>
        <p:spPr>
          <a:xfrm>
            <a:off x="8358987" y="3602735"/>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WHEN IT FAILS</a:t>
            </a:r>
            <a:endParaRPr/>
          </a:p>
        </p:txBody>
      </p:sp>
      <p:sp>
        <p:nvSpPr>
          <p:cNvPr id="274" name="Google Shape;274;p23"/>
          <p:cNvSpPr txBox="1"/>
          <p:nvPr/>
        </p:nvSpPr>
        <p:spPr>
          <a:xfrm>
            <a:off x="8358987" y="3803903"/>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Low score = key paragraph missed — answer incomplete despite partial retrieval.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8" name="Shape 278"/>
        <p:cNvGrpSpPr/>
        <p:nvPr/>
      </p:nvGrpSpPr>
      <p:grpSpPr>
        <a:xfrm>
          <a:off x="0" y="0"/>
          <a:ext cx="0" cy="0"/>
          <a:chOff x="0" y="0"/>
          <a:chExt cx="0" cy="0"/>
        </a:xfrm>
      </p:grpSpPr>
      <p:sp>
        <p:nvSpPr>
          <p:cNvPr id="279" name="Google Shape;279;p24"/>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4"/>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4"/>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Why We Added DeepEval</a:t>
            </a:r>
            <a:endParaRPr/>
          </a:p>
        </p:txBody>
      </p:sp>
      <p:sp>
        <p:nvSpPr>
          <p:cNvPr id="282" name="Google Shape;282;p24"/>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RAGAs covers core RAG quality — DeepEval adds legal-product-specific safety metrics</a:t>
            </a:r>
            <a:endParaRPr/>
          </a:p>
        </p:txBody>
      </p:sp>
      <p:sp>
        <p:nvSpPr>
          <p:cNvPr id="283" name="Google Shape;283;p24"/>
          <p:cNvSpPr txBox="1"/>
          <p:nvPr/>
        </p:nvSpPr>
        <p:spPr>
          <a:xfrm>
            <a:off x="594360" y="1280160"/>
            <a:ext cx="109728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475569"/>
                </a:solidFill>
                <a:latin typeface="Calibri"/>
                <a:ea typeface="Calibri"/>
                <a:cs typeface="Calibri"/>
                <a:sym typeface="Calibri"/>
              </a:rPr>
              <a:t>For a legal AI product, answer quality alone is not enough. DeepEval complements RAGAs with metrics tuned for hallucination detection and responsible AI behaviour — critical for a product that must never cross into impermissible legal advice.</a:t>
            </a:r>
            <a:endParaRPr/>
          </a:p>
        </p:txBody>
      </p:sp>
      <p:sp>
        <p:nvSpPr>
          <p:cNvPr id="284" name="Google Shape;284;p24"/>
          <p:cNvSpPr/>
          <p:nvPr/>
        </p:nvSpPr>
        <p:spPr>
          <a:xfrm>
            <a:off x="502920" y="2331720"/>
            <a:ext cx="3520440" cy="3977639"/>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24"/>
          <p:cNvSpPr/>
          <p:nvPr/>
        </p:nvSpPr>
        <p:spPr>
          <a:xfrm>
            <a:off x="502920" y="2331720"/>
            <a:ext cx="3520440" cy="91440"/>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24"/>
          <p:cNvSpPr txBox="1"/>
          <p:nvPr/>
        </p:nvSpPr>
        <p:spPr>
          <a:xfrm>
            <a:off x="685800" y="25328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Hallucination</a:t>
            </a:r>
            <a:endParaRPr/>
          </a:p>
        </p:txBody>
      </p:sp>
      <p:sp>
        <p:nvSpPr>
          <p:cNvPr id="287" name="Google Shape;287;p24"/>
          <p:cNvSpPr txBox="1"/>
          <p:nvPr/>
        </p:nvSpPr>
        <p:spPr>
          <a:xfrm>
            <a:off x="685800" y="2898648"/>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DC2626"/>
                </a:solidFill>
                <a:latin typeface="Calibri"/>
                <a:ea typeface="Calibri"/>
                <a:cs typeface="Calibri"/>
                <a:sym typeface="Calibri"/>
              </a:rPr>
              <a:t>DeepEval · inverted metric</a:t>
            </a:r>
            <a:endParaRPr/>
          </a:p>
        </p:txBody>
      </p:sp>
      <p:sp>
        <p:nvSpPr>
          <p:cNvPr id="288" name="Google Shape;288;p24"/>
          <p:cNvSpPr txBox="1"/>
          <p:nvPr/>
        </p:nvSpPr>
        <p:spPr>
          <a:xfrm>
            <a:off x="685800" y="32004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289" name="Google Shape;289;p24"/>
          <p:cNvSpPr txBox="1"/>
          <p:nvPr/>
        </p:nvSpPr>
        <p:spPr>
          <a:xfrm>
            <a:off x="685800" y="34015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Does the answer contradict the reference source material?</a:t>
            </a:r>
            <a:endParaRPr/>
          </a:p>
        </p:txBody>
      </p:sp>
      <p:sp>
        <p:nvSpPr>
          <p:cNvPr id="290" name="Google Shape;290;p24"/>
          <p:cNvSpPr txBox="1"/>
          <p:nvPr/>
        </p:nvSpPr>
        <p:spPr>
          <a:xfrm>
            <a:off x="685800" y="38587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291" name="Google Shape;291;p24"/>
          <p:cNvSpPr txBox="1"/>
          <p:nvPr/>
        </p:nvSpPr>
        <p:spPr>
          <a:xfrm>
            <a:off x="685800" y="4059935"/>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Score near 0.0 = no contradictions — answer aligns with document facts.</a:t>
            </a:r>
            <a:endParaRPr/>
          </a:p>
        </p:txBody>
      </p:sp>
      <p:sp>
        <p:nvSpPr>
          <p:cNvPr id="292" name="Google Shape;292;p24"/>
          <p:cNvSpPr txBox="1"/>
          <p:nvPr/>
        </p:nvSpPr>
        <p:spPr>
          <a:xfrm>
            <a:off x="685800" y="4517136"/>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WHEN IT FAILS</a:t>
            </a:r>
            <a:endParaRPr/>
          </a:p>
        </p:txBody>
      </p:sp>
      <p:sp>
        <p:nvSpPr>
          <p:cNvPr id="293" name="Google Shape;293;p24"/>
          <p:cNvSpPr txBox="1"/>
          <p:nvPr/>
        </p:nvSpPr>
        <p:spPr>
          <a:xfrm>
            <a:off x="685800" y="4718303"/>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High score = answer states facts that directly conflict with the uploaded document.</a:t>
            </a:r>
            <a:endParaRPr/>
          </a:p>
        </p:txBody>
      </p:sp>
      <p:sp>
        <p:nvSpPr>
          <p:cNvPr id="294" name="Google Shape;294;p24"/>
          <p:cNvSpPr/>
          <p:nvPr/>
        </p:nvSpPr>
        <p:spPr>
          <a:xfrm>
            <a:off x="4297680" y="2331720"/>
            <a:ext cx="3520440" cy="3977639"/>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24"/>
          <p:cNvSpPr/>
          <p:nvPr/>
        </p:nvSpPr>
        <p:spPr>
          <a:xfrm>
            <a:off x="4297680" y="2331720"/>
            <a:ext cx="3520440" cy="91440"/>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24"/>
          <p:cNvSpPr txBox="1"/>
          <p:nvPr/>
        </p:nvSpPr>
        <p:spPr>
          <a:xfrm>
            <a:off x="4480560" y="25328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Non-Advice</a:t>
            </a:r>
            <a:endParaRPr/>
          </a:p>
        </p:txBody>
      </p:sp>
      <p:sp>
        <p:nvSpPr>
          <p:cNvPr id="297" name="Google Shape;297;p24"/>
          <p:cNvSpPr txBox="1"/>
          <p:nvPr/>
        </p:nvSpPr>
        <p:spPr>
          <a:xfrm>
            <a:off x="4480560" y="2898648"/>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DC2626"/>
                </a:solidFill>
                <a:latin typeface="Calibri"/>
                <a:ea typeface="Calibri"/>
                <a:cs typeface="Calibri"/>
                <a:sym typeface="Calibri"/>
              </a:rPr>
              <a:t>DeepEval · legal safety</a:t>
            </a:r>
            <a:endParaRPr/>
          </a:p>
        </p:txBody>
      </p:sp>
      <p:sp>
        <p:nvSpPr>
          <p:cNvPr id="298" name="Google Shape;298;p24"/>
          <p:cNvSpPr txBox="1"/>
          <p:nvPr/>
        </p:nvSpPr>
        <p:spPr>
          <a:xfrm>
            <a:off x="4480560" y="32004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299" name="Google Shape;299;p24"/>
          <p:cNvSpPr txBox="1"/>
          <p:nvPr/>
        </p:nvSpPr>
        <p:spPr>
          <a:xfrm>
            <a:off x="4480560" y="34015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Does the chatbot avoid giving specific legal advice?</a:t>
            </a:r>
            <a:endParaRPr/>
          </a:p>
        </p:txBody>
      </p:sp>
      <p:sp>
        <p:nvSpPr>
          <p:cNvPr id="300" name="Google Shape;300;p24"/>
          <p:cNvSpPr txBox="1"/>
          <p:nvPr/>
        </p:nvSpPr>
        <p:spPr>
          <a:xfrm>
            <a:off x="4480560" y="38587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301" name="Google Shape;301;p24"/>
          <p:cNvSpPr txBox="1"/>
          <p:nvPr/>
        </p:nvSpPr>
        <p:spPr>
          <a:xfrm>
            <a:off x="4480560" y="4059935"/>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High score = informational tone, appropriate disclaimers, defers to qualified counsel.</a:t>
            </a:r>
            <a:endParaRPr/>
          </a:p>
        </p:txBody>
      </p:sp>
      <p:sp>
        <p:nvSpPr>
          <p:cNvPr id="302" name="Google Shape;302;p24"/>
          <p:cNvSpPr txBox="1"/>
          <p:nvPr/>
        </p:nvSpPr>
        <p:spPr>
          <a:xfrm>
            <a:off x="4480560" y="4517136"/>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WHEN IT FAILS</a:t>
            </a:r>
            <a:endParaRPr/>
          </a:p>
        </p:txBody>
      </p:sp>
      <p:sp>
        <p:nvSpPr>
          <p:cNvPr id="303" name="Google Shape;303;p24"/>
          <p:cNvSpPr txBox="1"/>
          <p:nvPr/>
        </p:nvSpPr>
        <p:spPr>
          <a:xfrm>
            <a:off x="4480560" y="4718303"/>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Low score = 'you should do X' language — regulatory and ethical risk.</a:t>
            </a:r>
            <a:endParaRPr/>
          </a:p>
        </p:txBody>
      </p:sp>
      <p:sp>
        <p:nvSpPr>
          <p:cNvPr id="304" name="Google Shape;304;p24"/>
          <p:cNvSpPr/>
          <p:nvPr/>
        </p:nvSpPr>
        <p:spPr>
          <a:xfrm>
            <a:off x="8092440" y="2331720"/>
            <a:ext cx="3520440" cy="3977639"/>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4"/>
          <p:cNvSpPr/>
          <p:nvPr/>
        </p:nvSpPr>
        <p:spPr>
          <a:xfrm>
            <a:off x="8092440" y="2331720"/>
            <a:ext cx="3520440" cy="91440"/>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24"/>
          <p:cNvSpPr txBox="1"/>
          <p:nvPr/>
        </p:nvSpPr>
        <p:spPr>
          <a:xfrm>
            <a:off x="8275320" y="2532888"/>
            <a:ext cx="3200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Contextual Relevancy</a:t>
            </a:r>
            <a:endParaRPr/>
          </a:p>
        </p:txBody>
      </p:sp>
      <p:sp>
        <p:nvSpPr>
          <p:cNvPr id="307" name="Google Shape;307;p24"/>
          <p:cNvSpPr txBox="1"/>
          <p:nvPr/>
        </p:nvSpPr>
        <p:spPr>
          <a:xfrm>
            <a:off x="8275320" y="2898648"/>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DC2626"/>
                </a:solidFill>
                <a:latin typeface="Calibri"/>
                <a:ea typeface="Calibri"/>
                <a:cs typeface="Calibri"/>
                <a:sym typeface="Calibri"/>
              </a:rPr>
              <a:t>DeepEval · retrieval quality</a:t>
            </a:r>
            <a:endParaRPr/>
          </a:p>
        </p:txBody>
      </p:sp>
      <p:sp>
        <p:nvSpPr>
          <p:cNvPr id="308" name="Google Shape;308;p24"/>
          <p:cNvSpPr txBox="1"/>
          <p:nvPr/>
        </p:nvSpPr>
        <p:spPr>
          <a:xfrm>
            <a:off x="8275320" y="3200400"/>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QUESTION IT ANSWERS</a:t>
            </a:r>
            <a:endParaRPr/>
          </a:p>
        </p:txBody>
      </p:sp>
      <p:sp>
        <p:nvSpPr>
          <p:cNvPr id="309" name="Google Shape;309;p24"/>
          <p:cNvSpPr txBox="1"/>
          <p:nvPr/>
        </p:nvSpPr>
        <p:spPr>
          <a:xfrm>
            <a:off x="8275320" y="3401568"/>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Is the retrieved context material actually on-topic for the question?</a:t>
            </a:r>
            <a:endParaRPr/>
          </a:p>
        </p:txBody>
      </p:sp>
      <p:sp>
        <p:nvSpPr>
          <p:cNvPr id="310" name="Google Shape;310;p24"/>
          <p:cNvSpPr txBox="1"/>
          <p:nvPr/>
        </p:nvSpPr>
        <p:spPr>
          <a:xfrm>
            <a:off x="8275320" y="3858768"/>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WHAT A GOOD SCORE MEANS</a:t>
            </a:r>
            <a:endParaRPr/>
          </a:p>
        </p:txBody>
      </p:sp>
      <p:sp>
        <p:nvSpPr>
          <p:cNvPr id="311" name="Google Shape;311;p24"/>
          <p:cNvSpPr txBox="1"/>
          <p:nvPr/>
        </p:nvSpPr>
        <p:spPr>
          <a:xfrm>
            <a:off x="8275320" y="4059935"/>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High score = retrieval pipeline ranked the most relevant chunks highest.</a:t>
            </a:r>
            <a:endParaRPr/>
          </a:p>
        </p:txBody>
      </p:sp>
      <p:sp>
        <p:nvSpPr>
          <p:cNvPr id="312" name="Google Shape;312;p24"/>
          <p:cNvSpPr txBox="1"/>
          <p:nvPr/>
        </p:nvSpPr>
        <p:spPr>
          <a:xfrm>
            <a:off x="8275320" y="4517136"/>
            <a:ext cx="3200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4A3B8"/>
                </a:solidFill>
                <a:latin typeface="Calibri"/>
                <a:ea typeface="Calibri"/>
                <a:cs typeface="Calibri"/>
                <a:sym typeface="Calibri"/>
              </a:rPr>
              <a:t>WHEN IT FAILS</a:t>
            </a:r>
            <a:endParaRPr/>
          </a:p>
        </p:txBody>
      </p:sp>
      <p:sp>
        <p:nvSpPr>
          <p:cNvPr id="313" name="Google Shape;313;p24"/>
          <p:cNvSpPr txBox="1"/>
          <p:nvPr/>
        </p:nvSpPr>
        <p:spPr>
          <a:xfrm>
            <a:off x="8275320" y="4718303"/>
            <a:ext cx="32004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75569"/>
                </a:solidFill>
                <a:latin typeface="Calibri"/>
                <a:ea typeface="Calibri"/>
                <a:cs typeface="Calibri"/>
                <a:sym typeface="Calibri"/>
              </a:rPr>
              <a:t>Low score = too much irrelevant context passed to the model.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17" name="Shape 317"/>
        <p:cNvGrpSpPr/>
        <p:nvPr/>
      </p:nvGrpSpPr>
      <p:grpSpPr>
        <a:xfrm>
          <a:off x="0" y="0"/>
          <a:ext cx="0" cy="0"/>
          <a:chOff x="0" y="0"/>
          <a:chExt cx="0" cy="0"/>
        </a:xfrm>
      </p:grpSpPr>
      <p:sp>
        <p:nvSpPr>
          <p:cNvPr id="318" name="Google Shape;318;p25"/>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5"/>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5"/>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Layer 3 — LLM-as-Judge for Intent Compliance</a:t>
            </a:r>
            <a:endParaRPr/>
          </a:p>
        </p:txBody>
      </p:sp>
      <p:sp>
        <p:nvSpPr>
          <p:cNvPr id="321" name="Google Shape;321;p25"/>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Separate evaluation track · Validates product prompt rules that RAGAs does not check</a:t>
            </a:r>
            <a:endParaRPr/>
          </a:p>
        </p:txBody>
      </p:sp>
      <p:sp>
        <p:nvSpPr>
          <p:cNvPr id="322" name="Google Shape;322;p25"/>
          <p:cNvSpPr/>
          <p:nvPr/>
        </p:nvSpPr>
        <p:spPr>
          <a:xfrm>
            <a:off x="502920" y="1325880"/>
            <a:ext cx="5303520" cy="50292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25"/>
          <p:cNvSpPr txBox="1"/>
          <p:nvPr/>
        </p:nvSpPr>
        <p:spPr>
          <a:xfrm>
            <a:off x="777240" y="1600200"/>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7C3AED"/>
                </a:solidFill>
                <a:latin typeface="Calibri"/>
                <a:ea typeface="Calibri"/>
                <a:cs typeface="Calibri"/>
                <a:sym typeface="Calibri"/>
              </a:rPr>
              <a:t>System Prompt</a:t>
            </a:r>
            <a:endParaRPr/>
          </a:p>
        </p:txBody>
      </p:sp>
      <p:sp>
        <p:nvSpPr>
          <p:cNvPr id="324" name="Google Shape;324;p25"/>
          <p:cNvSpPr txBox="1"/>
          <p:nvPr/>
        </p:nvSpPr>
        <p:spPr>
          <a:xfrm>
            <a:off x="777240" y="1947672"/>
            <a:ext cx="4754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475569"/>
                </a:solidFill>
                <a:latin typeface="Calibri"/>
                <a:ea typeface="Calibri"/>
                <a:cs typeface="Calibri"/>
                <a:sym typeface="Calibri"/>
              </a:rPr>
              <a:t>Does the answer follow the intent's core instructions and scope?</a:t>
            </a:r>
            <a:endParaRPr/>
          </a:p>
        </p:txBody>
      </p:sp>
      <p:sp>
        <p:nvSpPr>
          <p:cNvPr id="325" name="Google Shape;325;p25"/>
          <p:cNvSpPr txBox="1"/>
          <p:nvPr/>
        </p:nvSpPr>
        <p:spPr>
          <a:xfrm>
            <a:off x="777240" y="2834640"/>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7C3AED"/>
                </a:solidFill>
                <a:latin typeface="Calibri"/>
                <a:ea typeface="Calibri"/>
                <a:cs typeface="Calibri"/>
                <a:sym typeface="Calibri"/>
              </a:rPr>
              <a:t>Tone Prompt</a:t>
            </a:r>
            <a:endParaRPr/>
          </a:p>
        </p:txBody>
      </p:sp>
      <p:sp>
        <p:nvSpPr>
          <p:cNvPr id="326" name="Google Shape;326;p25"/>
          <p:cNvSpPr txBox="1"/>
          <p:nvPr/>
        </p:nvSpPr>
        <p:spPr>
          <a:xfrm>
            <a:off x="777240" y="3182112"/>
            <a:ext cx="4754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475569"/>
                </a:solidFill>
                <a:latin typeface="Calibri"/>
                <a:ea typeface="Calibri"/>
                <a:cs typeface="Calibri"/>
                <a:sym typeface="Calibri"/>
              </a:rPr>
              <a:t>Is the language formal, professional, and appropriate for legal context?</a:t>
            </a:r>
            <a:endParaRPr/>
          </a:p>
        </p:txBody>
      </p:sp>
      <p:sp>
        <p:nvSpPr>
          <p:cNvPr id="327" name="Google Shape;327;p25"/>
          <p:cNvSpPr txBox="1"/>
          <p:nvPr/>
        </p:nvSpPr>
        <p:spPr>
          <a:xfrm>
            <a:off x="777240" y="4069080"/>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7C3AED"/>
                </a:solidFill>
                <a:latin typeface="Calibri"/>
                <a:ea typeface="Calibri"/>
                <a:cs typeface="Calibri"/>
                <a:sym typeface="Calibri"/>
              </a:rPr>
              <a:t>Custom Instruction</a:t>
            </a:r>
            <a:endParaRPr/>
          </a:p>
        </p:txBody>
      </p:sp>
      <p:sp>
        <p:nvSpPr>
          <p:cNvPr id="328" name="Google Shape;328;p25"/>
          <p:cNvSpPr txBox="1"/>
          <p:nvPr/>
        </p:nvSpPr>
        <p:spPr>
          <a:xfrm>
            <a:off x="777240" y="4416552"/>
            <a:ext cx="4754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475569"/>
                </a:solidFill>
                <a:latin typeface="Calibri"/>
                <a:ea typeface="Calibri"/>
                <a:cs typeface="Calibri"/>
                <a:sym typeface="Calibri"/>
              </a:rPr>
              <a:t>Are format rules, disclaimers, and structural requirements met?</a:t>
            </a:r>
            <a:endParaRPr/>
          </a:p>
        </p:txBody>
      </p:sp>
      <p:sp>
        <p:nvSpPr>
          <p:cNvPr id="329" name="Google Shape;329;p25"/>
          <p:cNvSpPr/>
          <p:nvPr/>
        </p:nvSpPr>
        <p:spPr>
          <a:xfrm>
            <a:off x="6080760" y="1325880"/>
            <a:ext cx="5577840" cy="5029200"/>
          </a:xfrm>
          <a:prstGeom prst="roundRect">
            <a:avLst>
              <a:gd fmla="val 16667" name="adj"/>
            </a:avLst>
          </a:prstGeom>
          <a:solidFill>
            <a:srgbClr val="FAF5FF"/>
          </a:solidFill>
          <a:ln cap="flat" cmpd="sng" w="9525">
            <a:solidFill>
              <a:srgbClr val="7C3AE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25"/>
          <p:cNvSpPr txBox="1"/>
          <p:nvPr/>
        </p:nvSpPr>
        <p:spPr>
          <a:xfrm>
            <a:off x="6355080" y="1554480"/>
            <a:ext cx="5029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7C3AED"/>
                </a:solidFill>
                <a:latin typeface="Calibri"/>
                <a:ea typeface="Calibri"/>
                <a:cs typeface="Calibri"/>
                <a:sym typeface="Calibri"/>
              </a:rPr>
              <a:t>Example violations this layer catches</a:t>
            </a:r>
            <a:endParaRPr/>
          </a:p>
        </p:txBody>
      </p:sp>
      <p:sp>
        <p:nvSpPr>
          <p:cNvPr id="331" name="Google Shape;331;p25"/>
          <p:cNvSpPr txBox="1"/>
          <p:nvPr/>
        </p:nvSpPr>
        <p:spPr>
          <a:xfrm>
            <a:off x="6355080" y="2011680"/>
            <a:ext cx="5029200" cy="3657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  Answer is factually correct but uses casual, non-legal language</a:t>
            </a:r>
            <a:endParaRPr/>
          </a:p>
          <a:p>
            <a:pPr indent="0" lvl="0" marL="0" marR="0" rtl="0" algn="l">
              <a:spcBef>
                <a:spcPts val="1400"/>
              </a:spcBef>
              <a:spcAft>
                <a:spcPts val="0"/>
              </a:spcAft>
              <a:buNone/>
            </a:pPr>
            <a:r>
              <a:rPr b="0" i="0" lang="en-US" sz="1400" u="none" cap="none" strike="noStrike">
                <a:solidFill>
                  <a:srgbClr val="475569"/>
                </a:solidFill>
                <a:latin typeface="Calibri"/>
                <a:ea typeface="Calibri"/>
                <a:cs typeface="Calibri"/>
                <a:sym typeface="Calibri"/>
              </a:rPr>
              <a:t>✗  Required closing disclaimer is missing from the response</a:t>
            </a:r>
            <a:endParaRPr/>
          </a:p>
          <a:p>
            <a:pPr indent="0" lvl="0" marL="0" marR="0" rtl="0" algn="l">
              <a:spcBef>
                <a:spcPts val="1400"/>
              </a:spcBef>
              <a:spcAft>
                <a:spcPts val="0"/>
              </a:spcAft>
              <a:buNone/>
            </a:pPr>
            <a:r>
              <a:rPr b="0" i="0" lang="en-US" sz="1400" u="none" cap="none" strike="noStrike">
                <a:solidFill>
                  <a:srgbClr val="475569"/>
                </a:solidFill>
                <a:latin typeface="Calibri"/>
                <a:ea typeface="Calibri"/>
                <a:cs typeface="Calibri"/>
                <a:sym typeface="Calibri"/>
              </a:rPr>
              <a:t>✗  Bullet-point format specified in custom instruction is ignored</a:t>
            </a:r>
            <a:endParaRPr/>
          </a:p>
          <a:p>
            <a:pPr indent="0" lvl="0" marL="0" marR="0" rtl="0" algn="l">
              <a:spcBef>
                <a:spcPts val="1400"/>
              </a:spcBef>
              <a:spcAft>
                <a:spcPts val="0"/>
              </a:spcAft>
              <a:buNone/>
            </a:pPr>
            <a:r>
              <a:rPr b="0" i="0" lang="en-US" sz="1400" u="none" cap="none" strike="noStrike">
                <a:solidFill>
                  <a:srgbClr val="475569"/>
                </a:solidFill>
                <a:latin typeface="Calibri"/>
                <a:ea typeface="Calibri"/>
                <a:cs typeface="Calibri"/>
                <a:sym typeface="Calibri"/>
              </a:rPr>
              <a:t>✗  Response scope exceeds what the intent mode allows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35" name="Shape 335"/>
        <p:cNvGrpSpPr/>
        <p:nvPr/>
      </p:nvGrpSpPr>
      <p:grpSpPr>
        <a:xfrm>
          <a:off x="0" y="0"/>
          <a:ext cx="0" cy="0"/>
          <a:chOff x="0" y="0"/>
          <a:chExt cx="0" cy="0"/>
        </a:xfrm>
      </p:grpSpPr>
      <p:sp>
        <p:nvSpPr>
          <p:cNvPr id="336" name="Google Shape;336;p26"/>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6"/>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26"/>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Pass / Fail Criteria</a:t>
            </a:r>
            <a:endParaRPr/>
          </a:p>
        </p:txBody>
      </p:sp>
      <p:sp>
        <p:nvSpPr>
          <p:cNvPr id="339" name="Google Shape;339;p26"/>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All scores are on a 0.0 – 1.0 scale  ·  Release gate threshold: 0.70 (70%)</a:t>
            </a:r>
            <a:endParaRPr/>
          </a:p>
        </p:txBody>
      </p:sp>
      <p:sp>
        <p:nvSpPr>
          <p:cNvPr id="340" name="Google Shape;340;p26"/>
          <p:cNvSpPr/>
          <p:nvPr/>
        </p:nvSpPr>
        <p:spPr>
          <a:xfrm>
            <a:off x="594360" y="1417320"/>
            <a:ext cx="1417320" cy="777240"/>
          </a:xfrm>
          <a:prstGeom prst="roundRect">
            <a:avLst>
              <a:gd fmla="val 16667" name="adj"/>
            </a:avLst>
          </a:prstGeom>
          <a:solidFill>
            <a:srgbClr val="0596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0.85 – 1.00</a:t>
            </a:r>
            <a:endParaRPr/>
          </a:p>
        </p:txBody>
      </p:sp>
      <p:sp>
        <p:nvSpPr>
          <p:cNvPr id="341" name="Google Shape;341;p26"/>
          <p:cNvSpPr txBox="1"/>
          <p:nvPr/>
        </p:nvSpPr>
        <p:spPr>
          <a:xfrm>
            <a:off x="2194560" y="1463040"/>
            <a:ext cx="1828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E293B"/>
                </a:solidFill>
                <a:latin typeface="Calibri"/>
                <a:ea typeface="Calibri"/>
                <a:cs typeface="Calibri"/>
                <a:sym typeface="Calibri"/>
              </a:rPr>
              <a:t>Excellent</a:t>
            </a:r>
            <a:endParaRPr/>
          </a:p>
        </p:txBody>
      </p:sp>
      <p:sp>
        <p:nvSpPr>
          <p:cNvPr id="342" name="Google Shape;342;p26"/>
          <p:cNvSpPr txBox="1"/>
          <p:nvPr/>
        </p:nvSpPr>
        <p:spPr>
          <a:xfrm>
            <a:off x="2194560" y="1801368"/>
            <a:ext cx="8686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Strong confidence for production release</a:t>
            </a:r>
            <a:endParaRPr/>
          </a:p>
        </p:txBody>
      </p:sp>
      <p:sp>
        <p:nvSpPr>
          <p:cNvPr id="343" name="Google Shape;343;p26"/>
          <p:cNvSpPr/>
          <p:nvPr/>
        </p:nvSpPr>
        <p:spPr>
          <a:xfrm>
            <a:off x="594360" y="2377440"/>
            <a:ext cx="1417320" cy="777240"/>
          </a:xfrm>
          <a:prstGeom prst="roundRect">
            <a:avLst>
              <a:gd fmla="val 16667" name="adj"/>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0.70 – 0.84</a:t>
            </a:r>
            <a:endParaRPr/>
          </a:p>
        </p:txBody>
      </p:sp>
      <p:sp>
        <p:nvSpPr>
          <p:cNvPr id="344" name="Google Shape;344;p26"/>
          <p:cNvSpPr txBox="1"/>
          <p:nvPr/>
        </p:nvSpPr>
        <p:spPr>
          <a:xfrm>
            <a:off x="2194560" y="2423160"/>
            <a:ext cx="1828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E293B"/>
                </a:solidFill>
                <a:latin typeface="Calibri"/>
                <a:ea typeface="Calibri"/>
                <a:cs typeface="Calibri"/>
                <a:sym typeface="Calibri"/>
              </a:rPr>
              <a:t>Pass</a:t>
            </a:r>
            <a:endParaRPr/>
          </a:p>
        </p:txBody>
      </p:sp>
      <p:sp>
        <p:nvSpPr>
          <p:cNvPr id="345" name="Google Shape;345;p26"/>
          <p:cNvSpPr txBox="1"/>
          <p:nvPr/>
        </p:nvSpPr>
        <p:spPr>
          <a:xfrm>
            <a:off x="2194560" y="2761488"/>
            <a:ext cx="8686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Acceptable quality — meets current release standard</a:t>
            </a:r>
            <a:endParaRPr/>
          </a:p>
        </p:txBody>
      </p:sp>
      <p:sp>
        <p:nvSpPr>
          <p:cNvPr id="346" name="Google Shape;346;p26"/>
          <p:cNvSpPr/>
          <p:nvPr/>
        </p:nvSpPr>
        <p:spPr>
          <a:xfrm>
            <a:off x="594360" y="3337560"/>
            <a:ext cx="1417320" cy="777240"/>
          </a:xfrm>
          <a:prstGeom prst="roundRect">
            <a:avLst>
              <a:gd fmla="val 16667" name="adj"/>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Below 0.70</a:t>
            </a:r>
            <a:endParaRPr/>
          </a:p>
        </p:txBody>
      </p:sp>
      <p:sp>
        <p:nvSpPr>
          <p:cNvPr id="347" name="Google Shape;347;p26"/>
          <p:cNvSpPr txBox="1"/>
          <p:nvPr/>
        </p:nvSpPr>
        <p:spPr>
          <a:xfrm>
            <a:off x="2194560" y="3383280"/>
            <a:ext cx="1828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E293B"/>
                </a:solidFill>
                <a:latin typeface="Calibri"/>
                <a:ea typeface="Calibri"/>
                <a:cs typeface="Calibri"/>
                <a:sym typeface="Calibri"/>
              </a:rPr>
              <a:t>Fail</a:t>
            </a:r>
            <a:endParaRPr/>
          </a:p>
        </p:txBody>
      </p:sp>
      <p:sp>
        <p:nvSpPr>
          <p:cNvPr id="348" name="Google Shape;348;p26"/>
          <p:cNvSpPr txBox="1"/>
          <p:nvPr/>
        </p:nvSpPr>
        <p:spPr>
          <a:xfrm>
            <a:off x="2194560" y="3721608"/>
            <a:ext cx="8686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Requires investigation before sign-off</a:t>
            </a:r>
            <a:endParaRPr/>
          </a:p>
        </p:txBody>
      </p:sp>
      <p:sp>
        <p:nvSpPr>
          <p:cNvPr id="349" name="Google Shape;349;p26"/>
          <p:cNvSpPr/>
          <p:nvPr/>
        </p:nvSpPr>
        <p:spPr>
          <a:xfrm>
            <a:off x="594360" y="4434840"/>
            <a:ext cx="10972800" cy="1874519"/>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26"/>
          <p:cNvSpPr txBox="1"/>
          <p:nvPr/>
        </p:nvSpPr>
        <p:spPr>
          <a:xfrm>
            <a:off x="868680" y="4663440"/>
            <a:ext cx="10424160" cy="1554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  A test case passes only when every active metric for that case meets the threshold.</a:t>
            </a:r>
            <a:endParaRPr/>
          </a:p>
          <a:p>
            <a:pPr indent="0" lvl="0" marL="0" marR="0" rtl="0" algn="l">
              <a:spcBef>
                <a:spcPts val="800"/>
              </a:spcBef>
              <a:spcAft>
                <a:spcPts val="0"/>
              </a:spcAft>
              <a:buNone/>
            </a:pPr>
            <a:r>
              <a:rPr b="0" i="0" lang="en-US" sz="1400" u="none" cap="none" strike="noStrike">
                <a:solidFill>
                  <a:srgbClr val="475569"/>
                </a:solidFill>
                <a:latin typeface="Calibri"/>
                <a:ea typeface="Calibri"/>
                <a:cs typeface="Calibri"/>
                <a:sym typeface="Calibri"/>
              </a:rPr>
              <a:t>→  Hallucination is the one inverted metric: lower is better (0.0 = no contradictions with source).</a:t>
            </a:r>
            <a:endParaRPr/>
          </a:p>
          <a:p>
            <a:pPr indent="0" lvl="0" marL="0" marR="0" rtl="0" algn="l">
              <a:spcBef>
                <a:spcPts val="800"/>
              </a:spcBef>
              <a:spcAft>
                <a:spcPts val="0"/>
              </a:spcAft>
              <a:buNone/>
            </a:pPr>
            <a:r>
              <a:rPr b="0" i="0" lang="en-US" sz="1400" u="none" cap="none" strike="noStrike">
                <a:solidFill>
                  <a:srgbClr val="475569"/>
                </a:solidFill>
                <a:latin typeface="Calibri"/>
                <a:ea typeface="Calibri"/>
                <a:cs typeface="Calibri"/>
                <a:sym typeface="Calibri"/>
              </a:rPr>
              <a:t>→  Review scores by intent/mode — a failing Legal Q&amp;A score points to a different fix than a failing General Chat score.</a:t>
            </a:r>
            <a:endParaRPr/>
          </a:p>
          <a:p>
            <a:pPr indent="0" lvl="0" marL="0" marR="0" rtl="0" algn="l">
              <a:spcBef>
                <a:spcPts val="800"/>
              </a:spcBef>
              <a:spcAft>
                <a:spcPts val="0"/>
              </a:spcAft>
              <a:buNone/>
            </a:pPr>
            <a:r>
              <a:rPr b="0" i="0" lang="en-US" sz="1400" u="none" cap="none" strike="noStrike">
                <a:solidFill>
                  <a:srgbClr val="475569"/>
                </a:solidFill>
                <a:latin typeface="Calibri"/>
                <a:ea typeface="Calibri"/>
                <a:cs typeface="Calibri"/>
                <a:sym typeface="Calibri"/>
              </a:rPr>
              <a:t>→  As the product matures, raise the bar from 0.70 → 0.80 for stricter release governance.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54" name="Shape 354"/>
        <p:cNvGrpSpPr/>
        <p:nvPr/>
      </p:nvGrpSpPr>
      <p:grpSpPr>
        <a:xfrm>
          <a:off x="0" y="0"/>
          <a:ext cx="0" cy="0"/>
          <a:chOff x="0" y="0"/>
          <a:chExt cx="0" cy="0"/>
        </a:xfrm>
      </p:grpSpPr>
      <p:sp>
        <p:nvSpPr>
          <p:cNvPr id="355" name="Google Shape;355;p27"/>
          <p:cNvSpPr/>
          <p:nvPr/>
        </p:nvSpPr>
        <p:spPr>
          <a:xfrm>
            <a:off x="868680" y="2331720"/>
            <a:ext cx="1463040" cy="54864"/>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6" name="Google Shape;356;p27"/>
          <p:cNvSpPr txBox="1"/>
          <p:nvPr/>
        </p:nvSpPr>
        <p:spPr>
          <a:xfrm>
            <a:off x="868680" y="1417320"/>
            <a:ext cx="10058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DBEAFE"/>
                </a:solidFill>
                <a:latin typeface="Calibri"/>
                <a:ea typeface="Calibri"/>
                <a:cs typeface="Calibri"/>
                <a:sym typeface="Calibri"/>
              </a:rPr>
              <a:t>PART 04</a:t>
            </a:r>
            <a:endParaRPr/>
          </a:p>
        </p:txBody>
      </p:sp>
      <p:sp>
        <p:nvSpPr>
          <p:cNvPr id="357" name="Google Shape;357;p27"/>
          <p:cNvSpPr txBox="1"/>
          <p:nvPr/>
        </p:nvSpPr>
        <p:spPr>
          <a:xfrm>
            <a:off x="868680" y="2514600"/>
            <a:ext cx="10515600" cy="1280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FFFFFF"/>
                </a:solidFill>
                <a:latin typeface="Calibri"/>
                <a:ea typeface="Calibri"/>
                <a:cs typeface="Calibri"/>
                <a:sym typeface="Calibri"/>
              </a:rPr>
              <a:t>How We Test End-to-End</a:t>
            </a:r>
            <a:endParaRPr/>
          </a:p>
        </p:txBody>
      </p:sp>
      <p:sp>
        <p:nvSpPr>
          <p:cNvPr id="358" name="Google Shape;358;p27"/>
          <p:cNvSpPr txBox="1"/>
          <p:nvPr/>
        </p:nvSpPr>
        <p:spPr>
          <a:xfrm>
            <a:off x="868680" y="3977639"/>
            <a:ext cx="96012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CBD5E1"/>
                </a:solidFill>
                <a:latin typeface="Calibri"/>
                <a:ea typeface="Calibri"/>
                <a:cs typeface="Calibri"/>
                <a:sym typeface="Calibri"/>
              </a:rPr>
              <a:t>From document upload to scored evaluation report — a repeatable sprint process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2" name="Shape 362"/>
        <p:cNvGrpSpPr/>
        <p:nvPr/>
      </p:nvGrpSpPr>
      <p:grpSpPr>
        <a:xfrm>
          <a:off x="0" y="0"/>
          <a:ext cx="0" cy="0"/>
          <a:chOff x="0" y="0"/>
          <a:chExt cx="0" cy="0"/>
        </a:xfrm>
      </p:grpSpPr>
      <p:sp>
        <p:nvSpPr>
          <p:cNvPr id="363" name="Google Shape;363;p28"/>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28"/>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28"/>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Building the Test Dataset</a:t>
            </a:r>
            <a:endParaRPr/>
          </a:p>
        </p:txBody>
      </p:sp>
      <p:sp>
        <p:nvSpPr>
          <p:cNvPr id="366" name="Google Shape;366;p28"/>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Ground truth must come from the same document the chatbot has in scope</a:t>
            </a:r>
            <a:endParaRPr/>
          </a:p>
        </p:txBody>
      </p:sp>
      <p:sp>
        <p:nvSpPr>
          <p:cNvPr id="367" name="Google Shape;367;p28"/>
          <p:cNvSpPr/>
          <p:nvPr/>
        </p:nvSpPr>
        <p:spPr>
          <a:xfrm>
            <a:off x="502920" y="1325880"/>
            <a:ext cx="3520440" cy="50292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28"/>
          <p:cNvSpPr/>
          <p:nvPr/>
        </p:nvSpPr>
        <p:spPr>
          <a:xfrm>
            <a:off x="502920" y="1325880"/>
            <a:ext cx="3520440" cy="9144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28"/>
          <p:cNvSpPr txBox="1"/>
          <p:nvPr/>
        </p:nvSpPr>
        <p:spPr>
          <a:xfrm>
            <a:off x="685800" y="1554480"/>
            <a:ext cx="315468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E293B"/>
                </a:solidFill>
                <a:latin typeface="Calibri"/>
                <a:ea typeface="Calibri"/>
                <a:cs typeface="Calibri"/>
                <a:sym typeface="Calibri"/>
              </a:rPr>
              <a:t>Human-Designed Questions</a:t>
            </a:r>
            <a:endParaRPr/>
          </a:p>
        </p:txBody>
      </p:sp>
      <p:sp>
        <p:nvSpPr>
          <p:cNvPr id="370" name="Google Shape;370;p28"/>
          <p:cNvSpPr txBox="1"/>
          <p:nvPr/>
        </p:nvSpPr>
        <p:spPr>
          <a:xfrm>
            <a:off x="685800" y="2057400"/>
            <a:ext cx="3154680" cy="411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475569"/>
                </a:solidFill>
                <a:latin typeface="Calibri"/>
                <a:ea typeface="Calibri"/>
                <a:cs typeface="Calibri"/>
                <a:sym typeface="Calibri"/>
              </a:rPr>
              <a:t>•  Realistic legal questions a lawyer or paralegal would ask</a:t>
            </a:r>
            <a:endParaRPr/>
          </a:p>
          <a:p>
            <a:pPr indent="0" lvl="0" marL="0" marR="0" rtl="0" algn="l">
              <a:spcBef>
                <a:spcPts val="1000"/>
              </a:spcBef>
              <a:spcAft>
                <a:spcPts val="0"/>
              </a:spcAft>
              <a:buNone/>
            </a:pPr>
            <a:r>
              <a:rPr b="0" i="0" lang="en-US" sz="1300" u="none" cap="none" strike="noStrike">
                <a:solidFill>
                  <a:srgbClr val="475569"/>
                </a:solidFill>
                <a:latin typeface="Calibri"/>
                <a:ea typeface="Calibri"/>
                <a:cs typeface="Calibri"/>
                <a:sym typeface="Calibri"/>
              </a:rPr>
              <a:t>•  Tagged by intent/mode: General Chat, Legal Q&amp;A, Case Analysis, etc.</a:t>
            </a:r>
            <a:endParaRPr/>
          </a:p>
          <a:p>
            <a:pPr indent="0" lvl="0" marL="0" marR="0" rtl="0" algn="l">
              <a:spcBef>
                <a:spcPts val="1000"/>
              </a:spcBef>
              <a:spcAft>
                <a:spcPts val="0"/>
              </a:spcAft>
              <a:buNone/>
            </a:pPr>
            <a:r>
              <a:rPr b="0" i="0" lang="en-US" sz="1300" u="none" cap="none" strike="noStrike">
                <a:solidFill>
                  <a:srgbClr val="475569"/>
                </a:solidFill>
                <a:latin typeface="Calibri"/>
                <a:ea typeface="Calibri"/>
                <a:cs typeface="Calibri"/>
                <a:sym typeface="Calibri"/>
              </a:rPr>
              <a:t>•  Tagged by case type: positive, negative, edge, adversarial</a:t>
            </a:r>
            <a:endParaRPr/>
          </a:p>
        </p:txBody>
      </p:sp>
      <p:sp>
        <p:nvSpPr>
          <p:cNvPr id="371" name="Google Shape;371;p28"/>
          <p:cNvSpPr/>
          <p:nvPr/>
        </p:nvSpPr>
        <p:spPr>
          <a:xfrm>
            <a:off x="4297680" y="1325880"/>
            <a:ext cx="3520440" cy="50292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2" name="Google Shape;372;p28"/>
          <p:cNvSpPr/>
          <p:nvPr/>
        </p:nvSpPr>
        <p:spPr>
          <a:xfrm>
            <a:off x="4297680" y="1325880"/>
            <a:ext cx="3520440" cy="91440"/>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3" name="Google Shape;373;p28"/>
          <p:cNvSpPr txBox="1"/>
          <p:nvPr/>
        </p:nvSpPr>
        <p:spPr>
          <a:xfrm>
            <a:off x="4480560" y="1554480"/>
            <a:ext cx="315468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E293B"/>
                </a:solidFill>
                <a:latin typeface="Calibri"/>
                <a:ea typeface="Calibri"/>
                <a:cs typeface="Calibri"/>
                <a:sym typeface="Calibri"/>
              </a:rPr>
              <a:t>AI-Generated Ground Truth</a:t>
            </a:r>
            <a:endParaRPr/>
          </a:p>
        </p:txBody>
      </p:sp>
      <p:sp>
        <p:nvSpPr>
          <p:cNvPr id="374" name="Google Shape;374;p28"/>
          <p:cNvSpPr txBox="1"/>
          <p:nvPr/>
        </p:nvSpPr>
        <p:spPr>
          <a:xfrm>
            <a:off x="4480560" y="2057400"/>
            <a:ext cx="3154680" cy="411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475569"/>
                </a:solidFill>
                <a:latin typeface="Calibri"/>
                <a:ea typeface="Calibri"/>
                <a:cs typeface="Calibri"/>
                <a:sym typeface="Calibri"/>
              </a:rPr>
              <a:t>•  LLM reads the uploaded document and writes the reference answer</a:t>
            </a:r>
            <a:endParaRPr/>
          </a:p>
          <a:p>
            <a:pPr indent="0" lvl="0" marL="0" marR="0" rtl="0" algn="l">
              <a:spcBef>
                <a:spcPts val="1000"/>
              </a:spcBef>
              <a:spcAft>
                <a:spcPts val="0"/>
              </a:spcAft>
              <a:buNone/>
            </a:pPr>
            <a:r>
              <a:rPr b="0" i="0" lang="en-US" sz="1300" u="none" cap="none" strike="noStrike">
                <a:solidFill>
                  <a:srgbClr val="475569"/>
                </a:solidFill>
                <a:latin typeface="Calibri"/>
                <a:ea typeface="Calibri"/>
                <a:cs typeface="Calibri"/>
                <a:sym typeface="Calibri"/>
              </a:rPr>
              <a:t>•  Ensures factual alignment with source material</a:t>
            </a:r>
            <a:endParaRPr/>
          </a:p>
          <a:p>
            <a:pPr indent="0" lvl="0" marL="0" marR="0" rtl="0" algn="l">
              <a:spcBef>
                <a:spcPts val="1000"/>
              </a:spcBef>
              <a:spcAft>
                <a:spcPts val="0"/>
              </a:spcAft>
              <a:buNone/>
            </a:pPr>
            <a:r>
              <a:rPr b="0" i="0" lang="en-US" sz="1300" u="none" cap="none" strike="noStrike">
                <a:solidFill>
                  <a:srgbClr val="475569"/>
                </a:solidFill>
                <a:latin typeface="Calibri"/>
                <a:ea typeface="Calibri"/>
                <a:cs typeface="Calibri"/>
                <a:sym typeface="Calibri"/>
              </a:rPr>
              <a:t>•  Scales coverage without requiring legal experts for every answer</a:t>
            </a:r>
            <a:endParaRPr/>
          </a:p>
        </p:txBody>
      </p:sp>
      <p:sp>
        <p:nvSpPr>
          <p:cNvPr id="375" name="Google Shape;375;p28"/>
          <p:cNvSpPr/>
          <p:nvPr/>
        </p:nvSpPr>
        <p:spPr>
          <a:xfrm>
            <a:off x="8092440" y="1325880"/>
            <a:ext cx="3520440" cy="50292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28"/>
          <p:cNvSpPr/>
          <p:nvPr/>
        </p:nvSpPr>
        <p:spPr>
          <a:xfrm>
            <a:off x="8092440" y="1325880"/>
            <a:ext cx="3520440" cy="91440"/>
          </a:xfrm>
          <a:prstGeom prst="rect">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28"/>
          <p:cNvSpPr txBox="1"/>
          <p:nvPr/>
        </p:nvSpPr>
        <p:spPr>
          <a:xfrm>
            <a:off x="8275320" y="1554480"/>
            <a:ext cx="315468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E293B"/>
                </a:solidFill>
                <a:latin typeface="Calibri"/>
                <a:ea typeface="Calibri"/>
                <a:cs typeface="Calibri"/>
                <a:sym typeface="Calibri"/>
              </a:rPr>
              <a:t>Real Example</a:t>
            </a:r>
            <a:endParaRPr/>
          </a:p>
        </p:txBody>
      </p:sp>
      <p:sp>
        <p:nvSpPr>
          <p:cNvPr id="378" name="Google Shape;378;p28"/>
          <p:cNvSpPr txBox="1"/>
          <p:nvPr/>
        </p:nvSpPr>
        <p:spPr>
          <a:xfrm>
            <a:off x="8275320" y="2057400"/>
            <a:ext cx="3154680" cy="411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475569"/>
                </a:solidFill>
                <a:latin typeface="Calibri"/>
                <a:ea typeface="Calibri"/>
                <a:cs typeface="Calibri"/>
                <a:sym typeface="Calibri"/>
              </a:rPr>
              <a:t>•  Document: Pennsylvania Superior Court opinion</a:t>
            </a:r>
            <a:endParaRPr/>
          </a:p>
          <a:p>
            <a:pPr indent="0" lvl="0" marL="0" marR="0" rtl="0" algn="l">
              <a:spcBef>
                <a:spcPts val="1000"/>
              </a:spcBef>
              <a:spcAft>
                <a:spcPts val="0"/>
              </a:spcAft>
              <a:buNone/>
            </a:pPr>
            <a:r>
              <a:rPr b="0" i="0" lang="en-US" sz="1300" u="none" cap="none" strike="noStrike">
                <a:solidFill>
                  <a:srgbClr val="475569"/>
                </a:solidFill>
                <a:latin typeface="Calibri"/>
                <a:ea typeface="Calibri"/>
                <a:cs typeface="Calibri"/>
                <a:sym typeface="Calibri"/>
              </a:rPr>
              <a:t>•  Question: “What crimes did the appellant plead guilty to?”</a:t>
            </a:r>
            <a:endParaRPr/>
          </a:p>
          <a:p>
            <a:pPr indent="0" lvl="0" marL="0" marR="0" rtl="0" algn="l">
              <a:spcBef>
                <a:spcPts val="1000"/>
              </a:spcBef>
              <a:spcAft>
                <a:spcPts val="0"/>
              </a:spcAft>
              <a:buNone/>
            </a:pPr>
            <a:r>
              <a:rPr b="0" i="0" lang="en-US" sz="1300" u="none" cap="none" strike="noStrike">
                <a:solidFill>
                  <a:srgbClr val="475569"/>
                </a:solidFill>
                <a:latin typeface="Calibri"/>
                <a:ea typeface="Calibri"/>
                <a:cs typeface="Calibri"/>
                <a:sym typeface="Calibri"/>
              </a:rPr>
              <a:t>•  Ground truth: Seven specific charges from the plea agreement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82" name="Shape 382"/>
        <p:cNvGrpSpPr/>
        <p:nvPr/>
      </p:nvGrpSpPr>
      <p:grpSpPr>
        <a:xfrm>
          <a:off x="0" y="0"/>
          <a:ext cx="0" cy="0"/>
          <a:chOff x="0" y="0"/>
          <a:chExt cx="0" cy="0"/>
        </a:xfrm>
      </p:grpSpPr>
      <p:sp>
        <p:nvSpPr>
          <p:cNvPr id="383" name="Google Shape;383;p29"/>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29"/>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5" name="Google Shape;385;p29"/>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Test Coverage Dimensions</a:t>
            </a:r>
            <a:endParaRPr/>
          </a:p>
        </p:txBody>
      </p:sp>
      <p:sp>
        <p:nvSpPr>
          <p:cNvPr id="386" name="Google Shape;386;p29"/>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Every test case is evaluated across two axes — intent mode and case type</a:t>
            </a:r>
            <a:endParaRPr/>
          </a:p>
        </p:txBody>
      </p:sp>
      <p:sp>
        <p:nvSpPr>
          <p:cNvPr id="387" name="Google Shape;387;p29"/>
          <p:cNvSpPr/>
          <p:nvPr/>
        </p:nvSpPr>
        <p:spPr>
          <a:xfrm>
            <a:off x="502920" y="1325880"/>
            <a:ext cx="5486400" cy="50292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8" name="Google Shape;388;p29"/>
          <p:cNvSpPr txBox="1"/>
          <p:nvPr/>
        </p:nvSpPr>
        <p:spPr>
          <a:xfrm>
            <a:off x="731520" y="1554480"/>
            <a:ext cx="5029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2563EB"/>
                </a:solidFill>
                <a:latin typeface="Calibri"/>
                <a:ea typeface="Calibri"/>
                <a:cs typeface="Calibri"/>
                <a:sym typeface="Calibri"/>
              </a:rPr>
              <a:t>Intent / Mode</a:t>
            </a:r>
            <a:endParaRPr/>
          </a:p>
        </p:txBody>
      </p:sp>
      <p:sp>
        <p:nvSpPr>
          <p:cNvPr id="389" name="Google Shape;389;p29"/>
          <p:cNvSpPr txBox="1"/>
          <p:nvPr/>
        </p:nvSpPr>
        <p:spPr>
          <a:xfrm>
            <a:off x="731520" y="2011680"/>
            <a:ext cx="5029200" cy="411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  General Chat</a:t>
            </a:r>
            <a:endParaRPr/>
          </a:p>
          <a:p>
            <a:pPr indent="0" lvl="0" marL="0" marR="0" rtl="0" algn="l">
              <a:spcBef>
                <a:spcPts val="1000"/>
              </a:spcBef>
              <a:spcAft>
                <a:spcPts val="0"/>
              </a:spcAft>
              <a:buNone/>
            </a:pPr>
            <a:r>
              <a:rPr b="0" i="0" lang="en-US" sz="1400" u="none" cap="none" strike="noStrike">
                <a:solidFill>
                  <a:srgbClr val="475569"/>
                </a:solidFill>
                <a:latin typeface="Calibri"/>
                <a:ea typeface="Calibri"/>
                <a:cs typeface="Calibri"/>
                <a:sym typeface="Calibri"/>
              </a:rPr>
              <a:t>•  Legal Q&amp;A</a:t>
            </a:r>
            <a:endParaRPr/>
          </a:p>
          <a:p>
            <a:pPr indent="0" lvl="0" marL="0" marR="0" rtl="0" algn="l">
              <a:spcBef>
                <a:spcPts val="1000"/>
              </a:spcBef>
              <a:spcAft>
                <a:spcPts val="0"/>
              </a:spcAft>
              <a:buNone/>
            </a:pPr>
            <a:r>
              <a:rPr b="0" i="0" lang="en-US" sz="1400" u="none" cap="none" strike="noStrike">
                <a:solidFill>
                  <a:srgbClr val="475569"/>
                </a:solidFill>
                <a:latin typeface="Calibri"/>
                <a:ea typeface="Calibri"/>
                <a:cs typeface="Calibri"/>
                <a:sym typeface="Calibri"/>
              </a:rPr>
              <a:t>•  Legal Research</a:t>
            </a:r>
            <a:endParaRPr/>
          </a:p>
          <a:p>
            <a:pPr indent="0" lvl="0" marL="0" marR="0" rtl="0" algn="l">
              <a:spcBef>
                <a:spcPts val="1000"/>
              </a:spcBef>
              <a:spcAft>
                <a:spcPts val="0"/>
              </a:spcAft>
              <a:buNone/>
            </a:pPr>
            <a:r>
              <a:rPr b="0" i="0" lang="en-US" sz="1400" u="none" cap="none" strike="noStrike">
                <a:solidFill>
                  <a:srgbClr val="475569"/>
                </a:solidFill>
                <a:latin typeface="Calibri"/>
                <a:ea typeface="Calibri"/>
                <a:cs typeface="Calibri"/>
                <a:sym typeface="Calibri"/>
              </a:rPr>
              <a:t>•  Case Law Analysis</a:t>
            </a:r>
            <a:endParaRPr/>
          </a:p>
          <a:p>
            <a:pPr indent="0" lvl="0" marL="0" marR="0" rtl="0" algn="l">
              <a:spcBef>
                <a:spcPts val="1000"/>
              </a:spcBef>
              <a:spcAft>
                <a:spcPts val="0"/>
              </a:spcAft>
              <a:buNone/>
            </a:pPr>
            <a:r>
              <a:rPr b="0" i="0" lang="en-US" sz="1400" u="none" cap="none" strike="noStrike">
                <a:solidFill>
                  <a:srgbClr val="475569"/>
                </a:solidFill>
                <a:latin typeface="Calibri"/>
                <a:ea typeface="Calibri"/>
                <a:cs typeface="Calibri"/>
                <a:sym typeface="Calibri"/>
              </a:rPr>
              <a:t>•  Document Summarisation</a:t>
            </a:r>
            <a:endParaRPr/>
          </a:p>
          <a:p>
            <a:pPr indent="0" lvl="0" marL="0" marR="0" rtl="0" algn="l">
              <a:spcBef>
                <a:spcPts val="1000"/>
              </a:spcBef>
              <a:spcAft>
                <a:spcPts val="0"/>
              </a:spcAft>
              <a:buNone/>
            </a:pPr>
            <a:r>
              <a:rPr b="0" i="0" lang="en-US" sz="1400" u="none" cap="none" strike="noStrike">
                <a:solidFill>
                  <a:srgbClr val="475569"/>
                </a:solidFill>
                <a:latin typeface="Calibri"/>
                <a:ea typeface="Calibri"/>
                <a:cs typeface="Calibri"/>
                <a:sym typeface="Calibri"/>
              </a:rPr>
              <a:t>•  Clause Analysis</a:t>
            </a:r>
            <a:endParaRPr/>
          </a:p>
        </p:txBody>
      </p:sp>
      <p:sp>
        <p:nvSpPr>
          <p:cNvPr id="390" name="Google Shape;390;p29"/>
          <p:cNvSpPr/>
          <p:nvPr/>
        </p:nvSpPr>
        <p:spPr>
          <a:xfrm>
            <a:off x="6309359" y="1325880"/>
            <a:ext cx="5486400" cy="50292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1" name="Google Shape;391;p29"/>
          <p:cNvSpPr txBox="1"/>
          <p:nvPr/>
        </p:nvSpPr>
        <p:spPr>
          <a:xfrm>
            <a:off x="6537959" y="1554480"/>
            <a:ext cx="5029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0D9488"/>
                </a:solidFill>
                <a:latin typeface="Calibri"/>
                <a:ea typeface="Calibri"/>
                <a:cs typeface="Calibri"/>
                <a:sym typeface="Calibri"/>
              </a:rPr>
              <a:t>Case Type</a:t>
            </a:r>
            <a:endParaRPr/>
          </a:p>
        </p:txBody>
      </p:sp>
      <p:sp>
        <p:nvSpPr>
          <p:cNvPr id="392" name="Google Shape;392;p29"/>
          <p:cNvSpPr txBox="1"/>
          <p:nvPr/>
        </p:nvSpPr>
        <p:spPr>
          <a:xfrm>
            <a:off x="6537959" y="2011680"/>
            <a:ext cx="5029200" cy="411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  Positive — valid questions expecting helpful answers</a:t>
            </a:r>
            <a:endParaRPr/>
          </a:p>
          <a:p>
            <a:pPr indent="0" lvl="0" marL="0" marR="0" rtl="0" algn="l">
              <a:spcBef>
                <a:spcPts val="1000"/>
              </a:spcBef>
              <a:spcAft>
                <a:spcPts val="0"/>
              </a:spcAft>
              <a:buNone/>
            </a:pPr>
            <a:r>
              <a:rPr b="0" i="0" lang="en-US" sz="1400" u="none" cap="none" strike="noStrike">
                <a:solidFill>
                  <a:srgbClr val="475569"/>
                </a:solidFill>
                <a:latin typeface="Calibri"/>
                <a:ea typeface="Calibri"/>
                <a:cs typeface="Calibri"/>
                <a:sym typeface="Calibri"/>
              </a:rPr>
              <a:t>•  Negative — harmful requests expecting polite refusal</a:t>
            </a:r>
            <a:endParaRPr/>
          </a:p>
          <a:p>
            <a:pPr indent="0" lvl="0" marL="0" marR="0" rtl="0" algn="l">
              <a:spcBef>
                <a:spcPts val="1000"/>
              </a:spcBef>
              <a:spcAft>
                <a:spcPts val="0"/>
              </a:spcAft>
              <a:buNone/>
            </a:pPr>
            <a:r>
              <a:rPr b="0" i="0" lang="en-US" sz="1400" u="none" cap="none" strike="noStrike">
                <a:solidFill>
                  <a:srgbClr val="475569"/>
                </a:solidFill>
                <a:latin typeface="Calibri"/>
                <a:ea typeface="Calibri"/>
                <a:cs typeface="Calibri"/>
                <a:sym typeface="Calibri"/>
              </a:rPr>
              <a:t>•  Edge — ambiguous or nuanced legal scenarios</a:t>
            </a:r>
            <a:endParaRPr/>
          </a:p>
          <a:p>
            <a:pPr indent="0" lvl="0" marL="0" marR="0" rtl="0" algn="l">
              <a:spcBef>
                <a:spcPts val="1000"/>
              </a:spcBef>
              <a:spcAft>
                <a:spcPts val="0"/>
              </a:spcAft>
              <a:buNone/>
            </a:pPr>
            <a:r>
              <a:rPr b="0" i="0" lang="en-US" sz="1400" u="none" cap="none" strike="noStrike">
                <a:solidFill>
                  <a:srgbClr val="475569"/>
                </a:solidFill>
                <a:latin typeface="Calibri"/>
                <a:ea typeface="Calibri"/>
                <a:cs typeface="Calibri"/>
                <a:sym typeface="Calibri"/>
              </a:rPr>
              <a:t>•  Adversarial — jailbreak attempts expecting secure handling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96" name="Shape 396"/>
        <p:cNvGrpSpPr/>
        <p:nvPr/>
      </p:nvGrpSpPr>
      <p:grpSpPr>
        <a:xfrm>
          <a:off x="0" y="0"/>
          <a:ext cx="0" cy="0"/>
          <a:chOff x="0" y="0"/>
          <a:chExt cx="0" cy="0"/>
        </a:xfrm>
      </p:grpSpPr>
      <p:sp>
        <p:nvSpPr>
          <p:cNvPr id="397" name="Google Shape;397;p30"/>
          <p:cNvSpPr/>
          <p:nvPr/>
        </p:nvSpPr>
        <p:spPr>
          <a:xfrm>
            <a:off x="868680" y="2331720"/>
            <a:ext cx="1463040" cy="54864"/>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30"/>
          <p:cNvSpPr txBox="1"/>
          <p:nvPr/>
        </p:nvSpPr>
        <p:spPr>
          <a:xfrm>
            <a:off x="868680" y="1417320"/>
            <a:ext cx="10058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DBEAFE"/>
                </a:solidFill>
                <a:latin typeface="Calibri"/>
                <a:ea typeface="Calibri"/>
                <a:cs typeface="Calibri"/>
                <a:sym typeface="Calibri"/>
              </a:rPr>
              <a:t>PART 05</a:t>
            </a:r>
            <a:endParaRPr/>
          </a:p>
        </p:txBody>
      </p:sp>
      <p:sp>
        <p:nvSpPr>
          <p:cNvPr id="399" name="Google Shape;399;p30"/>
          <p:cNvSpPr txBox="1"/>
          <p:nvPr/>
        </p:nvSpPr>
        <p:spPr>
          <a:xfrm>
            <a:off x="868680" y="2514600"/>
            <a:ext cx="10515600" cy="1280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FFFFFF"/>
                </a:solidFill>
                <a:latin typeface="Calibri"/>
                <a:ea typeface="Calibri"/>
                <a:cs typeface="Calibri"/>
                <a:sym typeface="Calibri"/>
              </a:rPr>
              <a:t>Reading the Results</a:t>
            </a:r>
            <a:endParaRPr/>
          </a:p>
        </p:txBody>
      </p:sp>
      <p:sp>
        <p:nvSpPr>
          <p:cNvPr id="400" name="Google Shape;400;p30"/>
          <p:cNvSpPr txBox="1"/>
          <p:nvPr/>
        </p:nvSpPr>
        <p:spPr>
          <a:xfrm>
            <a:off x="868680" y="3977639"/>
            <a:ext cx="96012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CBD5E1"/>
                </a:solidFill>
                <a:latin typeface="Calibri"/>
                <a:ea typeface="Calibri"/>
                <a:cs typeface="Calibri"/>
                <a:sym typeface="Calibri"/>
              </a:rPr>
              <a:t>How to interpret scores and translate findings into actionable engineering feedback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04" name="Shape 404"/>
        <p:cNvGrpSpPr/>
        <p:nvPr/>
      </p:nvGrpSpPr>
      <p:grpSpPr>
        <a:xfrm>
          <a:off x="0" y="0"/>
          <a:ext cx="0" cy="0"/>
          <a:chOff x="0" y="0"/>
          <a:chExt cx="0" cy="0"/>
        </a:xfrm>
      </p:grpSpPr>
      <p:sp>
        <p:nvSpPr>
          <p:cNvPr id="405" name="Google Shape;405;p31"/>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6" name="Google Shape;406;p31"/>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31"/>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Evaluation Dashboard — Live Results</a:t>
            </a:r>
            <a:endParaRPr/>
          </a:p>
        </p:txBody>
      </p:sp>
      <p:sp>
        <p:nvSpPr>
          <p:cNvPr id="408" name="Google Shape;408;p31"/>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Real output from our YourAI QA run · Aggregate scores, intent breakdown, and pass/fail status</a:t>
            </a:r>
            <a:endParaRPr/>
          </a:p>
        </p:txBody>
      </p:sp>
      <p:pic>
        <p:nvPicPr>
          <p:cNvPr descr="results_dashboard.png" id="409" name="Google Shape;409;p31"/>
          <p:cNvPicPr preferRelativeResize="0"/>
          <p:nvPr/>
        </p:nvPicPr>
        <p:blipFill rotWithShape="1">
          <a:blip r:embed="rId3">
            <a:alphaModFix/>
          </a:blip>
          <a:srcRect b="0" l="0" r="0" t="0"/>
          <a:stretch/>
        </p:blipFill>
        <p:spPr>
          <a:xfrm>
            <a:off x="502920" y="1143000"/>
            <a:ext cx="11155680" cy="776004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13" name="Shape 413"/>
        <p:cNvGrpSpPr/>
        <p:nvPr/>
      </p:nvGrpSpPr>
      <p:grpSpPr>
        <a:xfrm>
          <a:off x="0" y="0"/>
          <a:ext cx="0" cy="0"/>
          <a:chOff x="0" y="0"/>
          <a:chExt cx="0" cy="0"/>
        </a:xfrm>
      </p:grpSpPr>
      <p:sp>
        <p:nvSpPr>
          <p:cNvPr id="414" name="Google Shape;414;p32"/>
          <p:cNvSpPr/>
          <p:nvPr/>
        </p:nvSpPr>
        <p:spPr>
          <a:xfrm>
            <a:off x="868680" y="2331720"/>
            <a:ext cx="1463040" cy="54864"/>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32"/>
          <p:cNvSpPr txBox="1"/>
          <p:nvPr/>
        </p:nvSpPr>
        <p:spPr>
          <a:xfrm>
            <a:off x="868680" y="1417320"/>
            <a:ext cx="10058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DBEAFE"/>
                </a:solidFill>
                <a:latin typeface="Calibri"/>
                <a:ea typeface="Calibri"/>
                <a:cs typeface="Calibri"/>
                <a:sym typeface="Calibri"/>
              </a:rPr>
              <a:t>PART 06</a:t>
            </a:r>
            <a:endParaRPr/>
          </a:p>
        </p:txBody>
      </p:sp>
      <p:sp>
        <p:nvSpPr>
          <p:cNvPr id="416" name="Google Shape;416;p32"/>
          <p:cNvSpPr txBox="1"/>
          <p:nvPr/>
        </p:nvSpPr>
        <p:spPr>
          <a:xfrm>
            <a:off x="868680" y="2514600"/>
            <a:ext cx="10515600" cy="1280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FFFFFF"/>
                </a:solidFill>
                <a:latin typeface="Calibri"/>
                <a:ea typeface="Calibri"/>
                <a:cs typeface="Calibri"/>
                <a:sym typeface="Calibri"/>
              </a:rPr>
              <a:t>Scaling &amp; Ownership</a:t>
            </a:r>
            <a:endParaRPr/>
          </a:p>
        </p:txBody>
      </p:sp>
      <p:sp>
        <p:nvSpPr>
          <p:cNvPr id="417" name="Google Shape;417;p32"/>
          <p:cNvSpPr txBox="1"/>
          <p:nvPr/>
        </p:nvSpPr>
        <p:spPr>
          <a:xfrm>
            <a:off x="868680" y="3977639"/>
            <a:ext cx="96012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CBD5E1"/>
                </a:solidFill>
                <a:latin typeface="Calibri"/>
                <a:ea typeface="Calibri"/>
                <a:cs typeface="Calibri"/>
                <a:sym typeface="Calibri"/>
              </a:rPr>
              <a:t>How the whole QA organisation adopts and grows this capability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21" name="Shape 421"/>
        <p:cNvGrpSpPr/>
        <p:nvPr/>
      </p:nvGrpSpPr>
      <p:grpSpPr>
        <a:xfrm>
          <a:off x="0" y="0"/>
          <a:ext cx="0" cy="0"/>
          <a:chOff x="0" y="0"/>
          <a:chExt cx="0" cy="0"/>
        </a:xfrm>
      </p:grpSpPr>
      <p:sp>
        <p:nvSpPr>
          <p:cNvPr id="422" name="Google Shape;422;p33"/>
          <p:cNvSpPr/>
          <p:nvPr/>
        </p:nvSpPr>
        <p:spPr>
          <a:xfrm>
            <a:off x="0" y="0"/>
            <a:ext cx="12191695" cy="1078992"/>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33"/>
          <p:cNvSpPr/>
          <p:nvPr/>
        </p:nvSpPr>
        <p:spPr>
          <a:xfrm>
            <a:off x="0" y="0"/>
            <a:ext cx="109728" cy="68580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33"/>
          <p:cNvSpPr txBox="1"/>
          <p:nvPr/>
        </p:nvSpPr>
        <p:spPr>
          <a:xfrm>
            <a:off x="502920" y="201168"/>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293B"/>
                </a:solidFill>
                <a:latin typeface="Calibri"/>
                <a:ea typeface="Calibri"/>
                <a:cs typeface="Calibri"/>
                <a:sym typeface="Calibri"/>
              </a:rPr>
              <a:t>QA Maturity Roadmap</a:t>
            </a:r>
            <a:endParaRPr/>
          </a:p>
        </p:txBody>
      </p:sp>
      <p:sp>
        <p:nvSpPr>
          <p:cNvPr id="425" name="Google Shape;425;p33"/>
          <p:cNvSpPr txBox="1"/>
          <p:nvPr/>
        </p:nvSpPr>
        <p:spPr>
          <a:xfrm>
            <a:off x="502920" y="65836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5569"/>
                </a:solidFill>
                <a:latin typeface="Calibri"/>
                <a:ea typeface="Calibri"/>
                <a:cs typeface="Calibri"/>
                <a:sym typeface="Calibri"/>
              </a:rPr>
              <a:t>Where we are today — and how this scales across the organisation</a:t>
            </a:r>
            <a:endParaRPr/>
          </a:p>
        </p:txBody>
      </p:sp>
      <p:sp>
        <p:nvSpPr>
          <p:cNvPr id="426" name="Google Shape;426;p33"/>
          <p:cNvSpPr/>
          <p:nvPr/>
        </p:nvSpPr>
        <p:spPr>
          <a:xfrm>
            <a:off x="685800" y="1463040"/>
            <a:ext cx="502920" cy="502920"/>
          </a:xfrm>
          <a:prstGeom prst="ellipse">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rgbClr val="FFFFFF"/>
                </a:solidFill>
                <a:latin typeface="Calibri"/>
                <a:ea typeface="Calibri"/>
                <a:cs typeface="Calibri"/>
                <a:sym typeface="Calibri"/>
              </a:rPr>
              <a:t>✓</a:t>
            </a:r>
            <a:endParaRPr/>
          </a:p>
        </p:txBody>
      </p:sp>
      <p:sp>
        <p:nvSpPr>
          <p:cNvPr id="427" name="Google Shape;427;p33"/>
          <p:cNvSpPr txBox="1"/>
          <p:nvPr/>
        </p:nvSpPr>
        <p:spPr>
          <a:xfrm>
            <a:off x="1371600" y="1417320"/>
            <a:ext cx="10972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2563EB"/>
                </a:solidFill>
                <a:latin typeface="Calibri"/>
                <a:ea typeface="Calibri"/>
                <a:cs typeface="Calibri"/>
                <a:sym typeface="Calibri"/>
              </a:rPr>
              <a:t>Now</a:t>
            </a:r>
            <a:endParaRPr/>
          </a:p>
        </p:txBody>
      </p:sp>
      <p:sp>
        <p:nvSpPr>
          <p:cNvPr id="428" name="Google Shape;428;p33"/>
          <p:cNvSpPr txBox="1"/>
          <p:nvPr/>
        </p:nvSpPr>
        <p:spPr>
          <a:xfrm>
            <a:off x="2286000" y="1417320"/>
            <a:ext cx="932688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475569"/>
                </a:solidFill>
                <a:latin typeface="Calibri"/>
                <a:ea typeface="Calibri"/>
                <a:cs typeface="Calibri"/>
                <a:sym typeface="Calibri"/>
              </a:rPr>
              <a:t>Automated RAG evaluation with RAGAs, DeepEval, and intent compliance judging</a:t>
            </a:r>
            <a:endParaRPr/>
          </a:p>
        </p:txBody>
      </p:sp>
      <p:sp>
        <p:nvSpPr>
          <p:cNvPr id="429" name="Google Shape;429;p33"/>
          <p:cNvSpPr/>
          <p:nvPr/>
        </p:nvSpPr>
        <p:spPr>
          <a:xfrm>
            <a:off x="914400" y="1984248"/>
            <a:ext cx="36576" cy="6858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33"/>
          <p:cNvSpPr/>
          <p:nvPr/>
        </p:nvSpPr>
        <p:spPr>
          <a:xfrm>
            <a:off x="685800" y="2606039"/>
            <a:ext cx="502920" cy="502920"/>
          </a:xfrm>
          <a:prstGeom prst="ellipse">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FFFFFF"/>
              </a:solidFill>
              <a:latin typeface="Calibri"/>
              <a:ea typeface="Calibri"/>
              <a:cs typeface="Calibri"/>
              <a:sym typeface="Calibri"/>
            </a:endParaRPr>
          </a:p>
        </p:txBody>
      </p:sp>
      <p:sp>
        <p:nvSpPr>
          <p:cNvPr id="431" name="Google Shape;431;p33"/>
          <p:cNvSpPr txBox="1"/>
          <p:nvPr/>
        </p:nvSpPr>
        <p:spPr>
          <a:xfrm>
            <a:off x="1371600" y="2560320"/>
            <a:ext cx="10972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D9488"/>
                </a:solidFill>
                <a:latin typeface="Calibri"/>
                <a:ea typeface="Calibri"/>
                <a:cs typeface="Calibri"/>
                <a:sym typeface="Calibri"/>
              </a:rPr>
              <a:t>Next</a:t>
            </a:r>
            <a:endParaRPr/>
          </a:p>
        </p:txBody>
      </p:sp>
      <p:sp>
        <p:nvSpPr>
          <p:cNvPr id="432" name="Google Shape;432;p33"/>
          <p:cNvSpPr txBox="1"/>
          <p:nvPr/>
        </p:nvSpPr>
        <p:spPr>
          <a:xfrm>
            <a:off x="2286000" y="2560320"/>
            <a:ext cx="932688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475569"/>
                </a:solidFill>
                <a:latin typeface="Calibri"/>
                <a:ea typeface="Calibri"/>
                <a:cs typeface="Calibri"/>
                <a:sym typeface="Calibri"/>
              </a:rPr>
              <a:t>CI/CD quality gates — block releases when aggregate metrics drop below threshold</a:t>
            </a:r>
            <a:endParaRPr/>
          </a:p>
        </p:txBody>
      </p:sp>
      <p:sp>
        <p:nvSpPr>
          <p:cNvPr id="433" name="Google Shape;433;p33"/>
          <p:cNvSpPr/>
          <p:nvPr/>
        </p:nvSpPr>
        <p:spPr>
          <a:xfrm>
            <a:off x="914400" y="3127248"/>
            <a:ext cx="36576" cy="6858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33"/>
          <p:cNvSpPr/>
          <p:nvPr/>
        </p:nvSpPr>
        <p:spPr>
          <a:xfrm>
            <a:off x="685800" y="3749039"/>
            <a:ext cx="502920" cy="502920"/>
          </a:xfrm>
          <a:prstGeom prst="ellipse">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FFFFFF"/>
              </a:solidFill>
              <a:latin typeface="Calibri"/>
              <a:ea typeface="Calibri"/>
              <a:cs typeface="Calibri"/>
              <a:sym typeface="Calibri"/>
            </a:endParaRPr>
          </a:p>
        </p:txBody>
      </p:sp>
      <p:sp>
        <p:nvSpPr>
          <p:cNvPr id="435" name="Google Shape;435;p33"/>
          <p:cNvSpPr txBox="1"/>
          <p:nvPr/>
        </p:nvSpPr>
        <p:spPr>
          <a:xfrm>
            <a:off x="1371600" y="3703320"/>
            <a:ext cx="10972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7C3AED"/>
                </a:solidFill>
                <a:latin typeface="Calibri"/>
                <a:ea typeface="Calibri"/>
                <a:cs typeface="Calibri"/>
                <a:sym typeface="Calibri"/>
              </a:rPr>
              <a:t>Scale</a:t>
            </a:r>
            <a:endParaRPr/>
          </a:p>
        </p:txBody>
      </p:sp>
      <p:sp>
        <p:nvSpPr>
          <p:cNvPr id="436" name="Google Shape;436;p33"/>
          <p:cNvSpPr txBox="1"/>
          <p:nvPr/>
        </p:nvSpPr>
        <p:spPr>
          <a:xfrm>
            <a:off x="2286000" y="3703320"/>
            <a:ext cx="932688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475569"/>
                </a:solidFill>
                <a:latin typeface="Calibri"/>
                <a:ea typeface="Calibri"/>
                <a:cs typeface="Calibri"/>
                <a:sym typeface="Calibri"/>
              </a:rPr>
              <a:t>Multi-document corpora, broader intent coverage, trend dashboards for leadership</a:t>
            </a:r>
            <a:endParaRPr/>
          </a:p>
        </p:txBody>
      </p:sp>
      <p:sp>
        <p:nvSpPr>
          <p:cNvPr id="437" name="Google Shape;437;p33"/>
          <p:cNvSpPr/>
          <p:nvPr/>
        </p:nvSpPr>
        <p:spPr>
          <a:xfrm>
            <a:off x="914400" y="4270248"/>
            <a:ext cx="36576" cy="6858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8" name="Google Shape;438;p33"/>
          <p:cNvSpPr/>
          <p:nvPr/>
        </p:nvSpPr>
        <p:spPr>
          <a:xfrm>
            <a:off x="685800" y="4892040"/>
            <a:ext cx="502920" cy="502920"/>
          </a:xfrm>
          <a:prstGeom prst="ellipse">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FFFFFF"/>
              </a:solidFill>
              <a:latin typeface="Calibri"/>
              <a:ea typeface="Calibri"/>
              <a:cs typeface="Calibri"/>
              <a:sym typeface="Calibri"/>
            </a:endParaRPr>
          </a:p>
        </p:txBody>
      </p:sp>
      <p:sp>
        <p:nvSpPr>
          <p:cNvPr id="439" name="Google Shape;439;p33"/>
          <p:cNvSpPr txBox="1"/>
          <p:nvPr/>
        </p:nvSpPr>
        <p:spPr>
          <a:xfrm>
            <a:off x="1371600" y="4846320"/>
            <a:ext cx="10972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293B"/>
                </a:solidFill>
                <a:latin typeface="Calibri"/>
                <a:ea typeface="Calibri"/>
                <a:cs typeface="Calibri"/>
                <a:sym typeface="Calibri"/>
              </a:rPr>
              <a:t>Optimise</a:t>
            </a:r>
            <a:endParaRPr/>
          </a:p>
        </p:txBody>
      </p:sp>
      <p:sp>
        <p:nvSpPr>
          <p:cNvPr id="440" name="Google Shape;440;p33"/>
          <p:cNvSpPr txBox="1"/>
          <p:nvPr/>
        </p:nvSpPr>
        <p:spPr>
          <a:xfrm>
            <a:off x="2286000" y="4846320"/>
            <a:ext cx="932688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475569"/>
                </a:solidFill>
                <a:latin typeface="Calibri"/>
                <a:ea typeface="Calibri"/>
                <a:cs typeface="Calibri"/>
                <a:sym typeface="Calibri"/>
              </a:rPr>
              <a:t>Stricter thresholds, adversarial safety suites, continuous ground-truth refresh</a:t>
            </a:r>
            <a:endParaRPr/>
          </a:p>
        </p:txBody>
      </p:sp>
      <p:sp>
        <p:nvSpPr>
          <p:cNvPr id="441" name="Google Shape;441;p33"/>
          <p:cNvSpPr/>
          <p:nvPr/>
        </p:nvSpPr>
        <p:spPr>
          <a:xfrm>
            <a:off x="914400" y="5413248"/>
            <a:ext cx="36576" cy="6858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45" name="Shape 445"/>
        <p:cNvGrpSpPr/>
        <p:nvPr/>
      </p:nvGrpSpPr>
      <p:grpSpPr>
        <a:xfrm>
          <a:off x="0" y="0"/>
          <a:ext cx="0" cy="0"/>
          <a:chOff x="0" y="0"/>
          <a:chExt cx="0" cy="0"/>
        </a:xfrm>
      </p:grpSpPr>
      <p:sp>
        <p:nvSpPr>
          <p:cNvPr id="446" name="Google Shape;446;p34"/>
          <p:cNvSpPr txBox="1"/>
          <p:nvPr/>
        </p:nvSpPr>
        <p:spPr>
          <a:xfrm>
            <a:off x="868680" y="868680"/>
            <a:ext cx="105156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FFFFFF"/>
                </a:solidFill>
                <a:latin typeface="Calibri"/>
                <a:ea typeface="Calibri"/>
                <a:cs typeface="Calibri"/>
                <a:sym typeface="Calibri"/>
              </a:rPr>
              <a:t>Key Takeaways</a:t>
            </a:r>
            <a:endParaRPr/>
          </a:p>
        </p:txBody>
      </p:sp>
      <p:sp>
        <p:nvSpPr>
          <p:cNvPr id="447" name="Google Shape;447;p34"/>
          <p:cNvSpPr/>
          <p:nvPr/>
        </p:nvSpPr>
        <p:spPr>
          <a:xfrm>
            <a:off x="868680" y="1691640"/>
            <a:ext cx="10789920" cy="658368"/>
          </a:xfrm>
          <a:prstGeom prst="roundRect">
            <a:avLst>
              <a:gd fmla="val 16667" name="adj"/>
            </a:avLst>
          </a:prstGeom>
          <a:solidFill>
            <a:srgbClr val="16233E"/>
          </a:solidFill>
          <a:ln cap="flat" cmpd="sng" w="9525">
            <a:solidFill>
              <a:srgbClr val="334A6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8" name="Google Shape;448;p34"/>
          <p:cNvSpPr/>
          <p:nvPr/>
        </p:nvSpPr>
        <p:spPr>
          <a:xfrm>
            <a:off x="1051560" y="1810512"/>
            <a:ext cx="384048" cy="384048"/>
          </a:xfrm>
          <a:prstGeom prst="ellipse">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1</a:t>
            </a:r>
            <a:endParaRPr/>
          </a:p>
        </p:txBody>
      </p:sp>
      <p:sp>
        <p:nvSpPr>
          <p:cNvPr id="449" name="Google Shape;449;p34"/>
          <p:cNvSpPr txBox="1"/>
          <p:nvPr/>
        </p:nvSpPr>
        <p:spPr>
          <a:xfrm>
            <a:off x="1600200" y="1783080"/>
            <a:ext cx="978408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E2E8F0"/>
                </a:solidFill>
                <a:latin typeface="Calibri"/>
                <a:ea typeface="Calibri"/>
                <a:cs typeface="Calibri"/>
                <a:sym typeface="Calibri"/>
              </a:rPr>
              <a:t>RAG chatbots require document-grounded testing — answers must be verified against source material.</a:t>
            </a:r>
            <a:endParaRPr/>
          </a:p>
        </p:txBody>
      </p:sp>
      <p:sp>
        <p:nvSpPr>
          <p:cNvPr id="450" name="Google Shape;450;p34"/>
          <p:cNvSpPr/>
          <p:nvPr/>
        </p:nvSpPr>
        <p:spPr>
          <a:xfrm>
            <a:off x="868680" y="2441448"/>
            <a:ext cx="10789920" cy="658368"/>
          </a:xfrm>
          <a:prstGeom prst="roundRect">
            <a:avLst>
              <a:gd fmla="val 16667" name="adj"/>
            </a:avLst>
          </a:prstGeom>
          <a:solidFill>
            <a:srgbClr val="16233E"/>
          </a:solidFill>
          <a:ln cap="flat" cmpd="sng" w="9525">
            <a:solidFill>
              <a:srgbClr val="334A6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34"/>
          <p:cNvSpPr/>
          <p:nvPr/>
        </p:nvSpPr>
        <p:spPr>
          <a:xfrm>
            <a:off x="1051560" y="2560320"/>
            <a:ext cx="384048" cy="384048"/>
          </a:xfrm>
          <a:prstGeom prst="ellipse">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2</a:t>
            </a:r>
            <a:endParaRPr/>
          </a:p>
        </p:txBody>
      </p:sp>
      <p:sp>
        <p:nvSpPr>
          <p:cNvPr id="452" name="Google Shape;452;p34"/>
          <p:cNvSpPr txBox="1"/>
          <p:nvPr/>
        </p:nvSpPr>
        <p:spPr>
          <a:xfrm>
            <a:off x="1600200" y="2532888"/>
            <a:ext cx="978408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E2E8F0"/>
                </a:solidFill>
                <a:latin typeface="Calibri"/>
                <a:ea typeface="Calibri"/>
                <a:cs typeface="Calibri"/>
                <a:sym typeface="Calibri"/>
              </a:rPr>
              <a:t>RAGAs measures answer quality (Tier 1) and retrieval grounding (Tier 2) — the industry standard for LLM QA.</a:t>
            </a:r>
            <a:endParaRPr/>
          </a:p>
        </p:txBody>
      </p:sp>
      <p:sp>
        <p:nvSpPr>
          <p:cNvPr id="453" name="Google Shape;453;p34"/>
          <p:cNvSpPr/>
          <p:nvPr/>
        </p:nvSpPr>
        <p:spPr>
          <a:xfrm>
            <a:off x="868680" y="3191256"/>
            <a:ext cx="10789920" cy="658368"/>
          </a:xfrm>
          <a:prstGeom prst="roundRect">
            <a:avLst>
              <a:gd fmla="val 16667" name="adj"/>
            </a:avLst>
          </a:prstGeom>
          <a:solidFill>
            <a:srgbClr val="16233E"/>
          </a:solidFill>
          <a:ln cap="flat" cmpd="sng" w="9525">
            <a:solidFill>
              <a:srgbClr val="334A6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4" name="Google Shape;454;p34"/>
          <p:cNvSpPr/>
          <p:nvPr/>
        </p:nvSpPr>
        <p:spPr>
          <a:xfrm>
            <a:off x="1051560" y="3310127"/>
            <a:ext cx="384048" cy="384048"/>
          </a:xfrm>
          <a:prstGeom prst="ellipse">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3</a:t>
            </a:r>
            <a:endParaRPr/>
          </a:p>
        </p:txBody>
      </p:sp>
      <p:sp>
        <p:nvSpPr>
          <p:cNvPr id="455" name="Google Shape;455;p34"/>
          <p:cNvSpPr txBox="1"/>
          <p:nvPr/>
        </p:nvSpPr>
        <p:spPr>
          <a:xfrm>
            <a:off x="1600200" y="3282696"/>
            <a:ext cx="978408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E2E8F0"/>
                </a:solidFill>
                <a:latin typeface="Calibri"/>
                <a:ea typeface="Calibri"/>
                <a:cs typeface="Calibri"/>
                <a:sym typeface="Calibri"/>
              </a:rPr>
              <a:t>DeepEval adds legal safety and hallucination detection that RAGAs alone does not fully cover.</a:t>
            </a:r>
            <a:endParaRPr/>
          </a:p>
        </p:txBody>
      </p:sp>
      <p:sp>
        <p:nvSpPr>
          <p:cNvPr id="456" name="Google Shape;456;p34"/>
          <p:cNvSpPr/>
          <p:nvPr/>
        </p:nvSpPr>
        <p:spPr>
          <a:xfrm>
            <a:off x="868680" y="3941063"/>
            <a:ext cx="10789920" cy="658368"/>
          </a:xfrm>
          <a:prstGeom prst="roundRect">
            <a:avLst>
              <a:gd fmla="val 16667" name="adj"/>
            </a:avLst>
          </a:prstGeom>
          <a:solidFill>
            <a:srgbClr val="16233E"/>
          </a:solidFill>
          <a:ln cap="flat" cmpd="sng" w="9525">
            <a:solidFill>
              <a:srgbClr val="334A6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7" name="Google Shape;457;p34"/>
          <p:cNvSpPr/>
          <p:nvPr/>
        </p:nvSpPr>
        <p:spPr>
          <a:xfrm>
            <a:off x="1051560" y="4059935"/>
            <a:ext cx="384048" cy="384048"/>
          </a:xfrm>
          <a:prstGeom prst="ellipse">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4</a:t>
            </a:r>
            <a:endParaRPr/>
          </a:p>
        </p:txBody>
      </p:sp>
      <p:sp>
        <p:nvSpPr>
          <p:cNvPr id="458" name="Google Shape;458;p34"/>
          <p:cNvSpPr txBox="1"/>
          <p:nvPr/>
        </p:nvSpPr>
        <p:spPr>
          <a:xfrm>
            <a:off x="1600200" y="4032503"/>
            <a:ext cx="978408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E2E8F0"/>
                </a:solidFill>
                <a:latin typeface="Calibri"/>
                <a:ea typeface="Calibri"/>
                <a:cs typeface="Calibri"/>
                <a:sym typeface="Calibri"/>
              </a:rPr>
              <a:t>LLM-as-Judge validates intent, tone, and custom instructions — the product behaviour layer.</a:t>
            </a:r>
            <a:endParaRPr/>
          </a:p>
        </p:txBody>
      </p:sp>
      <p:sp>
        <p:nvSpPr>
          <p:cNvPr id="459" name="Google Shape;459;p34"/>
          <p:cNvSpPr/>
          <p:nvPr/>
        </p:nvSpPr>
        <p:spPr>
          <a:xfrm>
            <a:off x="868680" y="4690872"/>
            <a:ext cx="10789920" cy="658368"/>
          </a:xfrm>
          <a:prstGeom prst="roundRect">
            <a:avLst>
              <a:gd fmla="val 16667" name="adj"/>
            </a:avLst>
          </a:prstGeom>
          <a:solidFill>
            <a:srgbClr val="16233E"/>
          </a:solidFill>
          <a:ln cap="flat" cmpd="sng" w="9525">
            <a:solidFill>
              <a:srgbClr val="334A6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34"/>
          <p:cNvSpPr/>
          <p:nvPr/>
        </p:nvSpPr>
        <p:spPr>
          <a:xfrm>
            <a:off x="1051560" y="4809744"/>
            <a:ext cx="384048" cy="384048"/>
          </a:xfrm>
          <a:prstGeom prst="ellipse">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5</a:t>
            </a:r>
            <a:endParaRPr/>
          </a:p>
        </p:txBody>
      </p:sp>
      <p:sp>
        <p:nvSpPr>
          <p:cNvPr id="461" name="Google Shape;461;p34"/>
          <p:cNvSpPr txBox="1"/>
          <p:nvPr/>
        </p:nvSpPr>
        <p:spPr>
          <a:xfrm>
            <a:off x="1600200" y="4782312"/>
            <a:ext cx="978408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E2E8F0"/>
                </a:solidFill>
                <a:latin typeface="Calibri"/>
                <a:ea typeface="Calibri"/>
                <a:cs typeface="Calibri"/>
                <a:sym typeface="Calibri"/>
              </a:rPr>
              <a:t>The 0.70 threshold is our release gate; interpret scores by intent and metric, not just pass/fail banners.</a:t>
            </a:r>
            <a:endParaRPr/>
          </a:p>
        </p:txBody>
      </p:sp>
      <p:sp>
        <p:nvSpPr>
          <p:cNvPr id="462" name="Google Shape;462;p34"/>
          <p:cNvSpPr/>
          <p:nvPr/>
        </p:nvSpPr>
        <p:spPr>
          <a:xfrm>
            <a:off x="868680" y="5440680"/>
            <a:ext cx="10789920" cy="658368"/>
          </a:xfrm>
          <a:prstGeom prst="roundRect">
            <a:avLst>
              <a:gd fmla="val 16667" name="adj"/>
            </a:avLst>
          </a:prstGeom>
          <a:solidFill>
            <a:srgbClr val="16233E"/>
          </a:solidFill>
          <a:ln cap="flat" cmpd="sng" w="9525">
            <a:solidFill>
              <a:srgbClr val="334A6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34"/>
          <p:cNvSpPr/>
          <p:nvPr/>
        </p:nvSpPr>
        <p:spPr>
          <a:xfrm>
            <a:off x="1051560" y="5559552"/>
            <a:ext cx="384048" cy="384048"/>
          </a:xfrm>
          <a:prstGeom prst="ellipse">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6</a:t>
            </a:r>
            <a:endParaRPr/>
          </a:p>
        </p:txBody>
      </p:sp>
      <p:sp>
        <p:nvSpPr>
          <p:cNvPr id="464" name="Google Shape;464;p34"/>
          <p:cNvSpPr txBox="1"/>
          <p:nvPr/>
        </p:nvSpPr>
        <p:spPr>
          <a:xfrm>
            <a:off x="1600200" y="5532120"/>
            <a:ext cx="978408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E2E8F0"/>
                </a:solidFill>
                <a:latin typeface="Calibri"/>
                <a:ea typeface="Calibri"/>
                <a:cs typeface="Calibri"/>
                <a:sym typeface="Calibri"/>
              </a:rPr>
              <a:t>This AI-testing-AI framework is reusable for any RAG product — QA leads the quality intelligence layer.</a:t>
            </a:r>
            <a:endParaRPr/>
          </a:p>
        </p:txBody>
      </p:sp>
      <p:sp>
        <p:nvSpPr>
          <p:cNvPr id="465" name="Google Shape;465;p34"/>
          <p:cNvSpPr txBox="1"/>
          <p:nvPr/>
        </p:nvSpPr>
        <p:spPr>
          <a:xfrm>
            <a:off x="868680" y="6190485"/>
            <a:ext cx="10058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DBEAFE"/>
                </a:solidFill>
                <a:latin typeface="Calibri"/>
                <a:ea typeface="Calibri"/>
                <a:cs typeface="Calibri"/>
                <a:sym typeface="Calibri"/>
              </a:rPr>
              <a:t>Questions &amp; Discussion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